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Bricolage Grotesque" charset="1" panose="020B0605040402000204"/>
      <p:regular r:id="rId13"/>
    </p:embeddedFont>
    <p:embeddedFont>
      <p:font typeface="Poppins" charset="1" panose="00000500000000000000"/>
      <p:regular r:id="rId14"/>
    </p:embeddedFont>
    <p:embeddedFont>
      <p:font typeface="Poppins Bold" charset="1" panose="00000800000000000000"/>
      <p:regular r:id="rId15"/>
    </p:embeddedFont>
    <p:embeddedFont>
      <p:font typeface="Bricolage Grotesque Bold" charset="1" panose="020B0605040402000204"/>
      <p:regular r:id="rId16"/>
    </p:embeddedFont>
    <p:embeddedFont>
      <p:font typeface="Canva Sans Bold" charset="1" panose="020B08030305010401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415882" cy="10287000"/>
            <a:chOff x="0" y="0"/>
            <a:chExt cx="636282" cy="2709333"/>
          </a:xfrm>
        </p:grpSpPr>
        <p:sp>
          <p:nvSpPr>
            <p:cNvPr name="Freeform 3" id="3"/>
            <p:cNvSpPr/>
            <p:nvPr/>
          </p:nvSpPr>
          <p:spPr>
            <a:xfrm flipH="false" flipV="false" rot="0">
              <a:off x="0" y="0"/>
              <a:ext cx="636282" cy="2709333"/>
            </a:xfrm>
            <a:custGeom>
              <a:avLst/>
              <a:gdLst/>
              <a:ahLst/>
              <a:cxnLst/>
              <a:rect r="r" b="b" t="t" l="l"/>
              <a:pathLst>
                <a:path h="2709333" w="636282">
                  <a:moveTo>
                    <a:pt x="0" y="0"/>
                  </a:moveTo>
                  <a:lnTo>
                    <a:pt x="636282" y="0"/>
                  </a:lnTo>
                  <a:lnTo>
                    <a:pt x="636282" y="2709333"/>
                  </a:lnTo>
                  <a:lnTo>
                    <a:pt x="0" y="2709333"/>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636282"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9251804" y="534347"/>
            <a:ext cx="9195259" cy="9218305"/>
          </a:xfrm>
          <a:custGeom>
            <a:avLst/>
            <a:gdLst/>
            <a:ahLst/>
            <a:cxnLst/>
            <a:rect r="r" b="b" t="t" l="l"/>
            <a:pathLst>
              <a:path h="9218305" w="9195259">
                <a:moveTo>
                  <a:pt x="0" y="0"/>
                </a:moveTo>
                <a:lnTo>
                  <a:pt x="9195260" y="0"/>
                </a:lnTo>
                <a:lnTo>
                  <a:pt x="9195260" y="9218306"/>
                </a:lnTo>
                <a:lnTo>
                  <a:pt x="0" y="9218306"/>
                </a:lnTo>
                <a:lnTo>
                  <a:pt x="0" y="0"/>
                </a:lnTo>
                <a:close/>
              </a:path>
            </a:pathLst>
          </a:custGeom>
          <a:blipFill>
            <a:blip r:embed="rId2"/>
            <a:stretch>
              <a:fillRect l="0" t="0" r="0" b="0"/>
            </a:stretch>
          </a:blipFill>
        </p:spPr>
      </p:sp>
      <p:sp>
        <p:nvSpPr>
          <p:cNvPr name="TextBox 6" id="6"/>
          <p:cNvSpPr txBox="true"/>
          <p:nvPr/>
        </p:nvSpPr>
        <p:spPr>
          <a:xfrm rot="0">
            <a:off x="3320099" y="980112"/>
            <a:ext cx="5996813" cy="4239403"/>
          </a:xfrm>
          <a:prstGeom prst="rect">
            <a:avLst/>
          </a:prstGeom>
        </p:spPr>
        <p:txBody>
          <a:bodyPr anchor="t" rtlCol="false" tIns="0" lIns="0" bIns="0" rIns="0">
            <a:spAutoFit/>
          </a:bodyPr>
          <a:lstStyle/>
          <a:p>
            <a:pPr algn="l" marL="0" indent="0" lvl="0">
              <a:lnSpc>
                <a:spcPts val="10983"/>
              </a:lnSpc>
            </a:pPr>
            <a:r>
              <a:rPr lang="en-US" sz="11207" spc="-71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Footwear</a:t>
            </a:r>
          </a:p>
          <a:p>
            <a:pPr algn="l" marL="0" indent="0" lvl="0">
              <a:lnSpc>
                <a:spcPts val="10983"/>
              </a:lnSpc>
            </a:pPr>
            <a:r>
              <a:rPr lang="en-US" sz="11207" spc="-71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Sales</a:t>
            </a:r>
          </a:p>
          <a:p>
            <a:pPr algn="l" marL="0" indent="0" lvl="0">
              <a:lnSpc>
                <a:spcPts val="10983"/>
              </a:lnSpc>
            </a:pPr>
            <a:r>
              <a:rPr lang="en-US" sz="11207" spc="-71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Analytics</a:t>
            </a:r>
          </a:p>
        </p:txBody>
      </p:sp>
      <p:sp>
        <p:nvSpPr>
          <p:cNvPr name="TextBox 7" id="7"/>
          <p:cNvSpPr txBox="true"/>
          <p:nvPr/>
        </p:nvSpPr>
        <p:spPr>
          <a:xfrm rot="0">
            <a:off x="3320099" y="5775969"/>
            <a:ext cx="5696631" cy="895411"/>
          </a:xfrm>
          <a:prstGeom prst="rect">
            <a:avLst/>
          </a:prstGeom>
        </p:spPr>
        <p:txBody>
          <a:bodyPr anchor="t" rtlCol="false" tIns="0" lIns="0" bIns="0" rIns="0">
            <a:spAutoFit/>
          </a:bodyPr>
          <a:lstStyle/>
          <a:p>
            <a:pPr algn="just" marL="0" indent="0" lvl="0">
              <a:lnSpc>
                <a:spcPts val="2392"/>
              </a:lnSpc>
            </a:pPr>
            <a:r>
              <a:rPr lang="en-US" sz="1868" spc="-5">
                <a:solidFill>
                  <a:srgbClr val="3A58E4"/>
                </a:solidFill>
                <a:latin typeface="Poppins"/>
                <a:ea typeface="Poppins"/>
                <a:cs typeface="Poppins"/>
                <a:sym typeface="Poppins"/>
              </a:rPr>
              <a:t>A professional end-to-end analytics portfolio showcasing Excel, MySQL, and Power BI expertise for data-driven footwear sales insights.</a:t>
            </a:r>
          </a:p>
        </p:txBody>
      </p:sp>
      <p:grpSp>
        <p:nvGrpSpPr>
          <p:cNvPr name="Group 8" id="8"/>
          <p:cNvGrpSpPr/>
          <p:nvPr/>
        </p:nvGrpSpPr>
        <p:grpSpPr>
          <a:xfrm rot="0">
            <a:off x="360740" y="8287049"/>
            <a:ext cx="1713939" cy="619879"/>
            <a:chOff x="0" y="0"/>
            <a:chExt cx="2285252" cy="826505"/>
          </a:xfrm>
        </p:grpSpPr>
        <p:sp>
          <p:nvSpPr>
            <p:cNvPr name="TextBox 9" id="9"/>
            <p:cNvSpPr txBox="true"/>
            <p:nvPr/>
          </p:nvSpPr>
          <p:spPr>
            <a:xfrm rot="0">
              <a:off x="0" y="0"/>
              <a:ext cx="2272228" cy="456176"/>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2026</a:t>
              </a:r>
            </a:p>
          </p:txBody>
        </p:sp>
        <p:sp>
          <p:nvSpPr>
            <p:cNvPr name="TextBox 10" id="10"/>
            <p:cNvSpPr txBox="true"/>
            <p:nvPr/>
          </p:nvSpPr>
          <p:spPr>
            <a:xfrm rot="0">
              <a:off x="13024" y="465701"/>
              <a:ext cx="2272228" cy="360804"/>
            </a:xfrm>
            <a:prstGeom prst="rect">
              <a:avLst/>
            </a:prstGeom>
          </p:spPr>
          <p:txBody>
            <a:bodyPr anchor="t" rtlCol="false" tIns="0" lIns="0" bIns="0" rIns="0">
              <a:spAutoFit/>
            </a:bodyPr>
            <a:lstStyle/>
            <a:p>
              <a:pPr algn="ctr" marL="0" indent="0" lvl="0">
                <a:lnSpc>
                  <a:spcPts val="1950"/>
                </a:lnSpc>
              </a:pPr>
              <a:r>
                <a:rPr lang="en-US" sz="1822">
                  <a:solidFill>
                    <a:srgbClr val="FFFFFF"/>
                  </a:solidFill>
                  <a:latin typeface="Poppins"/>
                  <a:ea typeface="Poppins"/>
                  <a:cs typeface="Poppins"/>
                  <a:sym typeface="Poppins"/>
                </a:rPr>
                <a:t>Insights</a:t>
              </a:r>
            </a:p>
          </p:txBody>
        </p:sp>
      </p:grpSp>
      <p:sp>
        <p:nvSpPr>
          <p:cNvPr name="Freeform 11" id="11"/>
          <p:cNvSpPr/>
          <p:nvPr/>
        </p:nvSpPr>
        <p:spPr>
          <a:xfrm flipH="false" flipV="false" rot="0">
            <a:off x="839956" y="1028700"/>
            <a:ext cx="735971" cy="710546"/>
          </a:xfrm>
          <a:custGeom>
            <a:avLst/>
            <a:gdLst/>
            <a:ahLst/>
            <a:cxnLst/>
            <a:rect r="r" b="b" t="t" l="l"/>
            <a:pathLst>
              <a:path h="710546" w="735971">
                <a:moveTo>
                  <a:pt x="0" y="0"/>
                </a:moveTo>
                <a:lnTo>
                  <a:pt x="735970" y="0"/>
                </a:lnTo>
                <a:lnTo>
                  <a:pt x="735970" y="710546"/>
                </a:lnTo>
                <a:lnTo>
                  <a:pt x="0" y="7105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350972" y="1968832"/>
            <a:ext cx="1704171" cy="236127"/>
          </a:xfrm>
          <a:prstGeom prst="rect">
            <a:avLst/>
          </a:prstGeom>
        </p:spPr>
        <p:txBody>
          <a:bodyPr anchor="t" rtlCol="false" tIns="0" lIns="0" bIns="0" rIns="0">
            <a:spAutoFit/>
          </a:bodyPr>
          <a:lstStyle/>
          <a:p>
            <a:pPr algn="ctr" marL="0" indent="0" lvl="0">
              <a:lnSpc>
                <a:spcPts val="1722"/>
              </a:lnSpc>
            </a:pPr>
            <a:r>
              <a:rPr lang="en-US" b="true" sz="1609">
                <a:solidFill>
                  <a:srgbClr val="FFFFFF"/>
                </a:solidFill>
                <a:latin typeface="Poppins Bold"/>
                <a:ea typeface="Poppins Bold"/>
                <a:cs typeface="Poppins Bold"/>
                <a:sym typeface="Poppins Bold"/>
              </a:rPr>
              <a:t>Footwear</a:t>
            </a:r>
          </a:p>
        </p:txBody>
      </p:sp>
      <p:sp>
        <p:nvSpPr>
          <p:cNvPr name="TextBox 13" id="13"/>
          <p:cNvSpPr txBox="true"/>
          <p:nvPr/>
        </p:nvSpPr>
        <p:spPr>
          <a:xfrm rot="0">
            <a:off x="360740" y="2204959"/>
            <a:ext cx="1704171" cy="236127"/>
          </a:xfrm>
          <a:prstGeom prst="rect">
            <a:avLst/>
          </a:prstGeom>
        </p:spPr>
        <p:txBody>
          <a:bodyPr anchor="t" rtlCol="false" tIns="0" lIns="0" bIns="0" rIns="0">
            <a:spAutoFit/>
          </a:bodyPr>
          <a:lstStyle/>
          <a:p>
            <a:pPr algn="ctr" marL="0" indent="0" lvl="0">
              <a:lnSpc>
                <a:spcPts val="1722"/>
              </a:lnSpc>
            </a:pPr>
            <a:r>
              <a:rPr lang="en-US" sz="1609">
                <a:solidFill>
                  <a:srgbClr val="FFFFFF"/>
                </a:solidFill>
                <a:latin typeface="Poppins"/>
                <a:ea typeface="Poppins"/>
                <a:cs typeface="Poppins"/>
                <a:sym typeface="Poppins"/>
              </a:rPr>
              <a:t>Analytics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666284"/>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6438046" y="128878"/>
            <a:ext cx="1849954" cy="1719288"/>
            <a:chOff x="0" y="0"/>
            <a:chExt cx="2466605" cy="2292385"/>
          </a:xfrm>
        </p:grpSpPr>
        <p:grpSp>
          <p:nvGrpSpPr>
            <p:cNvPr name="Group 6" id="6"/>
            <p:cNvGrpSpPr/>
            <p:nvPr/>
          </p:nvGrpSpPr>
          <p:grpSpPr>
            <a:xfrm rot="0">
              <a:off x="0" y="0"/>
              <a:ext cx="2466605" cy="2292385"/>
              <a:chOff x="0" y="0"/>
              <a:chExt cx="787566" cy="731939"/>
            </a:xfrm>
          </p:grpSpPr>
          <p:sp>
            <p:nvSpPr>
              <p:cNvPr name="Freeform 7" id="7"/>
              <p:cNvSpPr/>
              <p:nvPr/>
            </p:nvSpPr>
            <p:spPr>
              <a:xfrm flipH="false" flipV="false" rot="0">
                <a:off x="0" y="0"/>
                <a:ext cx="787566" cy="731939"/>
              </a:xfrm>
              <a:custGeom>
                <a:avLst/>
                <a:gdLst/>
                <a:ahLst/>
                <a:cxnLst/>
                <a:rect r="r" b="b" t="t" l="l"/>
                <a:pathLst>
                  <a:path h="731939" w="787566">
                    <a:moveTo>
                      <a:pt x="0" y="0"/>
                    </a:moveTo>
                    <a:lnTo>
                      <a:pt x="787566" y="0"/>
                    </a:lnTo>
                    <a:lnTo>
                      <a:pt x="787566" y="731939"/>
                    </a:lnTo>
                    <a:lnTo>
                      <a:pt x="0" y="731939"/>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8" id="8"/>
              <p:cNvSpPr txBox="true"/>
              <p:nvPr/>
            </p:nvSpPr>
            <p:spPr>
              <a:xfrm>
                <a:off x="0" y="-38100"/>
                <a:ext cx="787566" cy="77003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319164" y="684524"/>
              <a:ext cx="1828278" cy="1037637"/>
            </a:xfrm>
            <a:prstGeom prst="rect">
              <a:avLst/>
            </a:prstGeom>
          </p:spPr>
          <p:txBody>
            <a:bodyPr anchor="t" rtlCol="false" tIns="0" lIns="0" bIns="0" rIns="0">
              <a:spAutoFit/>
            </a:bodyPr>
            <a:lstStyle/>
            <a:p>
              <a:pPr algn="ctr" marL="0" indent="0" lvl="0">
                <a:lnSpc>
                  <a:spcPts val="5580"/>
                </a:lnSpc>
              </a:pPr>
              <a:r>
                <a:rPr lang="en-US" sz="5694" spc="-364">
                  <a:solidFill>
                    <a:srgbClr val="FFFFFF"/>
                  </a:solidFill>
                  <a:latin typeface="Bricolage Grotesque"/>
                  <a:ea typeface="Bricolage Grotesque"/>
                  <a:cs typeface="Bricolage Grotesque"/>
                  <a:sym typeface="Bricolage Grotesque"/>
                </a:rPr>
                <a:t>02</a:t>
              </a:r>
            </a:p>
          </p:txBody>
        </p:sp>
      </p:grpSp>
      <p:sp>
        <p:nvSpPr>
          <p:cNvPr name="Freeform 10" id="10"/>
          <p:cNvSpPr/>
          <p:nvPr/>
        </p:nvSpPr>
        <p:spPr>
          <a:xfrm flipH="false" flipV="false" rot="0">
            <a:off x="9185727" y="3265055"/>
            <a:ext cx="7830222" cy="5686698"/>
          </a:xfrm>
          <a:custGeom>
            <a:avLst/>
            <a:gdLst/>
            <a:ahLst/>
            <a:cxnLst/>
            <a:rect r="r" b="b" t="t" l="l"/>
            <a:pathLst>
              <a:path h="5686698" w="7830222">
                <a:moveTo>
                  <a:pt x="0" y="0"/>
                </a:moveTo>
                <a:lnTo>
                  <a:pt x="7830221" y="0"/>
                </a:lnTo>
                <a:lnTo>
                  <a:pt x="7830221" y="5686698"/>
                </a:lnTo>
                <a:lnTo>
                  <a:pt x="0" y="5686698"/>
                </a:lnTo>
                <a:lnTo>
                  <a:pt x="0" y="0"/>
                </a:lnTo>
                <a:close/>
              </a:path>
            </a:pathLst>
          </a:custGeom>
          <a:blipFill>
            <a:blip r:embed="rId2"/>
            <a:stretch>
              <a:fillRect l="0" t="0" r="0" b="0"/>
            </a:stretch>
          </a:blipFill>
        </p:spPr>
      </p:sp>
      <p:sp>
        <p:nvSpPr>
          <p:cNvPr name="TextBox 11" id="11"/>
          <p:cNvSpPr txBox="true"/>
          <p:nvPr/>
        </p:nvSpPr>
        <p:spPr>
          <a:xfrm rot="0">
            <a:off x="1028700" y="4461469"/>
            <a:ext cx="6730921" cy="366813"/>
          </a:xfrm>
          <a:prstGeom prst="rect">
            <a:avLst/>
          </a:prstGeom>
        </p:spPr>
        <p:txBody>
          <a:bodyPr anchor="t" rtlCol="false" tIns="0" lIns="0" bIns="0" rIns="0">
            <a:spAutoFit/>
          </a:bodyPr>
          <a:lstStyle/>
          <a:p>
            <a:pPr algn="l" marL="0" indent="0" lvl="0">
              <a:lnSpc>
                <a:spcPts val="2881"/>
              </a:lnSpc>
            </a:pPr>
            <a:r>
              <a:rPr lang="en-US" b="true" sz="2058" spc="-51">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FOOTWEAR SALES ANALYTICS — SCOPE &amp; OBJECTIVES</a:t>
            </a:r>
          </a:p>
        </p:txBody>
      </p:sp>
      <p:sp>
        <p:nvSpPr>
          <p:cNvPr name="Freeform 12" id="12"/>
          <p:cNvSpPr/>
          <p:nvPr/>
        </p:nvSpPr>
        <p:spPr>
          <a:xfrm flipH="false" flipV="false" rot="-8687136">
            <a:off x="7361493" y="4256361"/>
            <a:ext cx="189150" cy="228643"/>
          </a:xfrm>
          <a:custGeom>
            <a:avLst/>
            <a:gdLst/>
            <a:ahLst/>
            <a:cxnLst/>
            <a:rect r="r" b="b" t="t" l="l"/>
            <a:pathLst>
              <a:path h="228643" w="189150">
                <a:moveTo>
                  <a:pt x="0" y="0"/>
                </a:moveTo>
                <a:lnTo>
                  <a:pt x="189151" y="0"/>
                </a:lnTo>
                <a:lnTo>
                  <a:pt x="189151" y="228643"/>
                </a:lnTo>
                <a:lnTo>
                  <a:pt x="0" y="2286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256766" y="1546639"/>
            <a:ext cx="5412331" cy="2489701"/>
          </a:xfrm>
          <a:prstGeom prst="rect">
            <a:avLst/>
          </a:prstGeom>
        </p:spPr>
        <p:txBody>
          <a:bodyPr anchor="t" rtlCol="false" tIns="0" lIns="0" bIns="0" rIns="0">
            <a:spAutoFit/>
          </a:bodyPr>
          <a:lstStyle/>
          <a:p>
            <a:pPr algn="l"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Project</a:t>
            </a:r>
          </a:p>
          <a:p>
            <a:pPr algn="l"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Overview</a:t>
            </a:r>
          </a:p>
        </p:txBody>
      </p:sp>
      <p:sp>
        <p:nvSpPr>
          <p:cNvPr name="TextBox 14" id="14"/>
          <p:cNvSpPr txBox="true"/>
          <p:nvPr/>
        </p:nvSpPr>
        <p:spPr>
          <a:xfrm rot="0">
            <a:off x="1028700" y="5170316"/>
            <a:ext cx="6570559" cy="3779788"/>
          </a:xfrm>
          <a:prstGeom prst="rect">
            <a:avLst/>
          </a:prstGeom>
        </p:spPr>
        <p:txBody>
          <a:bodyPr anchor="t" rtlCol="false" tIns="0" lIns="0" bIns="0" rIns="0">
            <a:spAutoFit/>
          </a:bodyPr>
          <a:lstStyle/>
          <a:p>
            <a:pPr algn="just" marL="0" indent="0" lvl="0">
              <a:lnSpc>
                <a:spcPts val="2715"/>
              </a:lnSpc>
            </a:pPr>
            <a:r>
              <a:rPr lang="en-US" sz="1939" spc="-5">
                <a:solidFill>
                  <a:srgbClr val="3A58E4"/>
                </a:solidFill>
                <a:latin typeface="Poppins"/>
                <a:ea typeface="Poppins"/>
                <a:cs typeface="Poppins"/>
                <a:sym typeface="Poppins"/>
              </a:rPr>
              <a:t>This project delivers a comprehensive end-to-end sales analytics solution for a footwear retail business. Raw transactional data is extracted and structured,  transformed and modeled in Excel, cleaned and analysed in SQL and visualized through an interactive Power BI dashboard.</a:t>
            </a:r>
          </a:p>
          <a:p>
            <a:pPr algn="just" marL="0" indent="0" lvl="0">
              <a:lnSpc>
                <a:spcPts val="2715"/>
              </a:lnSpc>
            </a:pPr>
            <a:r>
              <a:rPr lang="en-US" sz="1939" spc="-5">
                <a:solidFill>
                  <a:srgbClr val="3A58E4"/>
                </a:solidFill>
                <a:latin typeface="Poppins"/>
                <a:ea typeface="Poppins"/>
                <a:cs typeface="Poppins"/>
                <a:sym typeface="Poppins"/>
              </a:rPr>
              <a:t>Objectives include identifying top-performing product lines, regional sales trends, seasonal demand patterns, and customer purchasing behavior — enabling data-driven decisions across inventory, marketing, and revenue strategy.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268111"/>
            <a:ext cx="1849954" cy="1580055"/>
            <a:chOff x="0" y="0"/>
            <a:chExt cx="2466605" cy="2106740"/>
          </a:xfrm>
        </p:grpSpPr>
        <p:grpSp>
          <p:nvGrpSpPr>
            <p:cNvPr name="Group 3" id="3"/>
            <p:cNvGrpSpPr/>
            <p:nvPr/>
          </p:nvGrpSpPr>
          <p:grpSpPr>
            <a:xfrm rot="0">
              <a:off x="0" y="0"/>
              <a:ext cx="2466605" cy="2106740"/>
              <a:chOff x="0" y="0"/>
              <a:chExt cx="787566" cy="672664"/>
            </a:xfrm>
          </p:grpSpPr>
          <p:sp>
            <p:nvSpPr>
              <p:cNvPr name="Freeform 4" id="4"/>
              <p:cNvSpPr/>
              <p:nvPr/>
            </p:nvSpPr>
            <p:spPr>
              <a:xfrm flipH="false" flipV="false" rot="0">
                <a:off x="0" y="0"/>
                <a:ext cx="787566" cy="672664"/>
              </a:xfrm>
              <a:custGeom>
                <a:avLst/>
                <a:gdLst/>
                <a:ahLst/>
                <a:cxnLst/>
                <a:rect r="r" b="b" t="t" l="l"/>
                <a:pathLst>
                  <a:path h="672664" w="787566">
                    <a:moveTo>
                      <a:pt x="0" y="0"/>
                    </a:moveTo>
                    <a:lnTo>
                      <a:pt x="787566" y="0"/>
                    </a:lnTo>
                    <a:lnTo>
                      <a:pt x="787566" y="672664"/>
                    </a:lnTo>
                    <a:lnTo>
                      <a:pt x="0" y="672664"/>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1076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55949"/>
              <a:ext cx="1828278" cy="880567"/>
            </a:xfrm>
            <a:prstGeom prst="rect">
              <a:avLst/>
            </a:prstGeom>
          </p:spPr>
          <p:txBody>
            <a:bodyPr anchor="t" rtlCol="false" tIns="0" lIns="0" bIns="0" rIns="0">
              <a:spAutoFit/>
            </a:bodyPr>
            <a:lstStyle/>
            <a:p>
              <a:pPr algn="ctr" marL="0" indent="0" lvl="0">
                <a:lnSpc>
                  <a:spcPts val="4706"/>
                </a:lnSpc>
              </a:pPr>
              <a:r>
                <a:rPr lang="en-US" sz="4802" spc="-307">
                  <a:solidFill>
                    <a:srgbClr val="FFFFFF"/>
                  </a:solidFill>
                  <a:latin typeface="Bricolage Grotesque"/>
                  <a:ea typeface="Bricolage Grotesque"/>
                  <a:cs typeface="Bricolage Grotesque"/>
                  <a:sym typeface="Bricolage Grotesque"/>
                </a:rPr>
                <a:t>03</a:t>
              </a:r>
            </a:p>
          </p:txBody>
        </p:sp>
      </p:grpSp>
      <p:grpSp>
        <p:nvGrpSpPr>
          <p:cNvPr name="Group 7" id="7"/>
          <p:cNvGrpSpPr/>
          <p:nvPr/>
        </p:nvGrpSpPr>
        <p:grpSpPr>
          <a:xfrm rot="0">
            <a:off x="5545788" y="3062727"/>
            <a:ext cx="7196424" cy="379246"/>
            <a:chOff x="0" y="0"/>
            <a:chExt cx="9595232" cy="505662"/>
          </a:xfrm>
        </p:grpSpPr>
        <p:sp>
          <p:nvSpPr>
            <p:cNvPr name="TextBox 8" id="8"/>
            <p:cNvSpPr txBox="true"/>
            <p:nvPr/>
          </p:nvSpPr>
          <p:spPr>
            <a:xfrm rot="0">
              <a:off x="0" y="110427"/>
              <a:ext cx="9378912" cy="395234"/>
            </a:xfrm>
            <a:prstGeom prst="rect">
              <a:avLst/>
            </a:prstGeom>
          </p:spPr>
          <p:txBody>
            <a:bodyPr anchor="t" rtlCol="false" tIns="0" lIns="0" bIns="0" rIns="0">
              <a:spAutoFit/>
            </a:bodyPr>
            <a:lstStyle/>
            <a:p>
              <a:pPr algn="l" marL="0" indent="0" lvl="0">
                <a:lnSpc>
                  <a:spcPts val="2430"/>
                </a:lnSpc>
              </a:pPr>
              <a:r>
                <a:rPr lang="en-US" b="true" sz="1735" spc="-43">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TECHNICAL STACK AND DATA SOURCES POWERING THE ANALYTICS</a:t>
              </a:r>
            </a:p>
          </p:txBody>
        </p:sp>
        <p:sp>
          <p:nvSpPr>
            <p:cNvPr name="Freeform 9" id="9"/>
            <p:cNvSpPr/>
            <p:nvPr/>
          </p:nvSpPr>
          <p:spPr>
            <a:xfrm flipH="false" flipV="false" rot="-8687136">
              <a:off x="9278212"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463921"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533445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9205912"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13077373" y="4926041"/>
            <a:ext cx="3746706" cy="37467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sp>
        <p:nvSpPr>
          <p:cNvPr name="TextBox 22" id="22"/>
          <p:cNvSpPr txBox="true"/>
          <p:nvPr/>
        </p:nvSpPr>
        <p:spPr>
          <a:xfrm rot="0">
            <a:off x="2345222" y="6289971"/>
            <a:ext cx="1984104" cy="270021"/>
          </a:xfrm>
          <a:prstGeom prst="rect">
            <a:avLst/>
          </a:prstGeom>
        </p:spPr>
        <p:txBody>
          <a:bodyPr anchor="t" rtlCol="false" tIns="0" lIns="0" bIns="0" rIns="0">
            <a:spAutoFit/>
          </a:bodyPr>
          <a:lstStyle/>
          <a:p>
            <a:pPr algn="ctr" marL="0" indent="0" lvl="0">
              <a:lnSpc>
                <a:spcPts val="2122"/>
              </a:lnSpc>
            </a:pPr>
            <a:r>
              <a:rPr lang="en-US" b="true" sz="1645" spc="-4">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MICROSOFT EXCEL</a:t>
            </a:r>
          </a:p>
        </p:txBody>
      </p:sp>
      <p:sp>
        <p:nvSpPr>
          <p:cNvPr name="TextBox 23" id="23"/>
          <p:cNvSpPr txBox="true"/>
          <p:nvPr/>
        </p:nvSpPr>
        <p:spPr>
          <a:xfrm rot="0">
            <a:off x="2124549" y="6938019"/>
            <a:ext cx="2425450" cy="670309"/>
          </a:xfrm>
          <a:prstGeom prst="rect">
            <a:avLst/>
          </a:prstGeom>
        </p:spPr>
        <p:txBody>
          <a:bodyPr anchor="t" rtlCol="false" tIns="0" lIns="0" bIns="0" rIns="0">
            <a:spAutoFit/>
          </a:bodyPr>
          <a:lstStyle/>
          <a:p>
            <a:pPr algn="ctr" marL="0" indent="0" lvl="0">
              <a:lnSpc>
                <a:spcPts val="1748"/>
              </a:lnSpc>
            </a:pPr>
            <a:r>
              <a:rPr lang="en-US" sz="1355" spc="-4">
                <a:solidFill>
                  <a:srgbClr val="3A58E4"/>
                </a:solidFill>
                <a:latin typeface="Poppins"/>
                <a:ea typeface="Poppins"/>
                <a:cs typeface="Poppins"/>
                <a:sym typeface="Poppins"/>
              </a:rPr>
              <a:t>Data cleaning, preparation, and preliminary analysis of raw sales records</a:t>
            </a:r>
          </a:p>
        </p:txBody>
      </p:sp>
      <p:sp>
        <p:nvSpPr>
          <p:cNvPr name="TextBox 24" id="24"/>
          <p:cNvSpPr txBox="true"/>
          <p:nvPr/>
        </p:nvSpPr>
        <p:spPr>
          <a:xfrm rot="0">
            <a:off x="6215753" y="6289971"/>
            <a:ext cx="1984104" cy="270021"/>
          </a:xfrm>
          <a:prstGeom prst="rect">
            <a:avLst/>
          </a:prstGeom>
        </p:spPr>
        <p:txBody>
          <a:bodyPr anchor="t" rtlCol="false" tIns="0" lIns="0" bIns="0" rIns="0">
            <a:spAutoFit/>
          </a:bodyPr>
          <a:lstStyle/>
          <a:p>
            <a:pPr algn="ctr" marL="0" indent="0" lvl="0">
              <a:lnSpc>
                <a:spcPts val="2122"/>
              </a:lnSpc>
            </a:pPr>
            <a:r>
              <a:rPr lang="en-US" b="true" sz="1645" spc="-4">
                <a:solidFill>
                  <a:srgbClr val="FFFFFF"/>
                </a:solidFill>
                <a:latin typeface="Poppins Bold"/>
                <a:ea typeface="Poppins Bold"/>
                <a:cs typeface="Poppins Bold"/>
                <a:sym typeface="Poppins Bold"/>
              </a:rPr>
              <a:t>MYSQL DATABASE</a:t>
            </a:r>
          </a:p>
        </p:txBody>
      </p:sp>
      <p:sp>
        <p:nvSpPr>
          <p:cNvPr name="TextBox 25" id="25"/>
          <p:cNvSpPr txBox="true"/>
          <p:nvPr/>
        </p:nvSpPr>
        <p:spPr>
          <a:xfrm rot="0">
            <a:off x="5995080" y="6938019"/>
            <a:ext cx="2425450" cy="670309"/>
          </a:xfrm>
          <a:prstGeom prst="rect">
            <a:avLst/>
          </a:prstGeom>
        </p:spPr>
        <p:txBody>
          <a:bodyPr anchor="t" rtlCol="false" tIns="0" lIns="0" bIns="0" rIns="0">
            <a:spAutoFit/>
          </a:bodyPr>
          <a:lstStyle/>
          <a:p>
            <a:pPr algn="ctr" marL="0" indent="0" lvl="0">
              <a:lnSpc>
                <a:spcPts val="1748"/>
              </a:lnSpc>
            </a:pPr>
            <a:r>
              <a:rPr lang="en-US" sz="1355" spc="-4">
                <a:solidFill>
                  <a:srgbClr val="FFFFFF"/>
                </a:solidFill>
                <a:latin typeface="Poppins"/>
                <a:ea typeface="Poppins"/>
                <a:cs typeface="Poppins"/>
                <a:sym typeface="Poppins"/>
              </a:rPr>
              <a:t>Structured storage, querying, and management of footwear sales data</a:t>
            </a:r>
          </a:p>
        </p:txBody>
      </p:sp>
      <p:sp>
        <p:nvSpPr>
          <p:cNvPr name="TextBox 26" id="26"/>
          <p:cNvSpPr txBox="true"/>
          <p:nvPr/>
        </p:nvSpPr>
        <p:spPr>
          <a:xfrm rot="0">
            <a:off x="9901910" y="6289971"/>
            <a:ext cx="2354710" cy="270021"/>
          </a:xfrm>
          <a:prstGeom prst="rect">
            <a:avLst/>
          </a:prstGeom>
        </p:spPr>
        <p:txBody>
          <a:bodyPr anchor="t" rtlCol="false" tIns="0" lIns="0" bIns="0" rIns="0">
            <a:spAutoFit/>
          </a:bodyPr>
          <a:lstStyle/>
          <a:p>
            <a:pPr algn="ctr" marL="0" indent="0" lvl="0">
              <a:lnSpc>
                <a:spcPts val="2122"/>
              </a:lnSpc>
            </a:pPr>
            <a:r>
              <a:rPr lang="en-US" b="true" sz="1645" spc="-4">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POWER BI</a:t>
            </a:r>
          </a:p>
        </p:txBody>
      </p:sp>
      <p:sp>
        <p:nvSpPr>
          <p:cNvPr name="TextBox 27" id="27"/>
          <p:cNvSpPr txBox="true"/>
          <p:nvPr/>
        </p:nvSpPr>
        <p:spPr>
          <a:xfrm rot="0">
            <a:off x="9866540" y="6938019"/>
            <a:ext cx="2425450" cy="670309"/>
          </a:xfrm>
          <a:prstGeom prst="rect">
            <a:avLst/>
          </a:prstGeom>
        </p:spPr>
        <p:txBody>
          <a:bodyPr anchor="t" rtlCol="false" tIns="0" lIns="0" bIns="0" rIns="0">
            <a:spAutoFit/>
          </a:bodyPr>
          <a:lstStyle/>
          <a:p>
            <a:pPr algn="ctr" marL="0" indent="0" lvl="0">
              <a:lnSpc>
                <a:spcPts val="1748"/>
              </a:lnSpc>
            </a:pPr>
            <a:r>
              <a:rPr lang="en-US" sz="1355" spc="-4">
                <a:solidFill>
                  <a:srgbClr val="3A58E4"/>
                </a:solidFill>
                <a:latin typeface="Poppins"/>
                <a:ea typeface="Poppins"/>
                <a:cs typeface="Poppins"/>
                <a:sym typeface="Poppins"/>
              </a:rPr>
              <a:t>Interactive dashboards and dynamic visual reporting for insights</a:t>
            </a:r>
          </a:p>
        </p:txBody>
      </p:sp>
      <p:sp>
        <p:nvSpPr>
          <p:cNvPr name="TextBox 28" id="28"/>
          <p:cNvSpPr txBox="true"/>
          <p:nvPr/>
        </p:nvSpPr>
        <p:spPr>
          <a:xfrm rot="0">
            <a:off x="13958674" y="6289971"/>
            <a:ext cx="1984104" cy="270021"/>
          </a:xfrm>
          <a:prstGeom prst="rect">
            <a:avLst/>
          </a:prstGeom>
        </p:spPr>
        <p:txBody>
          <a:bodyPr anchor="t" rtlCol="false" tIns="0" lIns="0" bIns="0" rIns="0">
            <a:spAutoFit/>
          </a:bodyPr>
          <a:lstStyle/>
          <a:p>
            <a:pPr algn="ctr" marL="0" indent="0" lvl="0">
              <a:lnSpc>
                <a:spcPts val="2122"/>
              </a:lnSpc>
            </a:pPr>
            <a:r>
              <a:rPr lang="en-US" b="true" sz="1645" spc="-4">
                <a:solidFill>
                  <a:srgbClr val="FFFFFF"/>
                </a:solidFill>
                <a:latin typeface="Poppins Bold"/>
                <a:ea typeface="Poppins Bold"/>
                <a:cs typeface="Poppins Bold"/>
                <a:sym typeface="Poppins Bold"/>
              </a:rPr>
              <a:t>SALES DATASET</a:t>
            </a:r>
          </a:p>
        </p:txBody>
      </p:sp>
      <p:sp>
        <p:nvSpPr>
          <p:cNvPr name="TextBox 29" id="29"/>
          <p:cNvSpPr txBox="true"/>
          <p:nvPr/>
        </p:nvSpPr>
        <p:spPr>
          <a:xfrm rot="0">
            <a:off x="13738001" y="6938019"/>
            <a:ext cx="2425450" cy="670309"/>
          </a:xfrm>
          <a:prstGeom prst="rect">
            <a:avLst/>
          </a:prstGeom>
        </p:spPr>
        <p:txBody>
          <a:bodyPr anchor="t" rtlCol="false" tIns="0" lIns="0" bIns="0" rIns="0">
            <a:spAutoFit/>
          </a:bodyPr>
          <a:lstStyle/>
          <a:p>
            <a:pPr algn="ctr" marL="0" indent="0" lvl="0">
              <a:lnSpc>
                <a:spcPts val="1748"/>
              </a:lnSpc>
            </a:pPr>
            <a:r>
              <a:rPr lang="en-US" sz="1355" spc="-4">
                <a:solidFill>
                  <a:srgbClr val="FFFFFF"/>
                </a:solidFill>
                <a:latin typeface="Poppins"/>
                <a:ea typeface="Poppins"/>
                <a:cs typeface="Poppins"/>
                <a:sym typeface="Poppins"/>
              </a:rPr>
              <a:t>1000 </a:t>
            </a:r>
            <a:r>
              <a:rPr lang="en-US" sz="1355" spc="-4">
                <a:solidFill>
                  <a:srgbClr val="FFFFFF"/>
                </a:solidFill>
                <a:latin typeface="Poppins"/>
                <a:ea typeface="Poppins"/>
                <a:cs typeface="Poppins"/>
                <a:sym typeface="Poppins"/>
              </a:rPr>
              <a:t>footwear transactions covering SKUs, regions, and revenue metrics</a:t>
            </a:r>
          </a:p>
        </p:txBody>
      </p:sp>
      <p:grpSp>
        <p:nvGrpSpPr>
          <p:cNvPr name="Group 30" id="30"/>
          <p:cNvGrpSpPr/>
          <p:nvPr/>
        </p:nvGrpSpPr>
        <p:grpSpPr>
          <a:xfrm rot="0">
            <a:off x="4176506" y="5014478"/>
            <a:ext cx="746986" cy="658549"/>
            <a:chOff x="0" y="0"/>
            <a:chExt cx="995981" cy="878065"/>
          </a:xfrm>
        </p:grpSpPr>
        <p:grpSp>
          <p:nvGrpSpPr>
            <p:cNvPr name="Group 31" id="31"/>
            <p:cNvGrpSpPr/>
            <p:nvPr/>
          </p:nvGrpSpPr>
          <p:grpSpPr>
            <a:xfrm rot="0">
              <a:off x="0" y="0"/>
              <a:ext cx="995981" cy="878065"/>
              <a:chOff x="0" y="0"/>
              <a:chExt cx="812800" cy="716572"/>
            </a:xfrm>
          </p:grpSpPr>
          <p:sp>
            <p:nvSpPr>
              <p:cNvPr name="Freeform 32" id="32"/>
              <p:cNvSpPr/>
              <p:nvPr/>
            </p:nvSpPr>
            <p:spPr>
              <a:xfrm flipH="false" flipV="false" rot="0">
                <a:off x="0" y="0"/>
                <a:ext cx="812800" cy="716572"/>
              </a:xfrm>
              <a:custGeom>
                <a:avLst/>
                <a:gdLst/>
                <a:ahLst/>
                <a:cxnLst/>
                <a:rect r="r" b="b" t="t" l="l"/>
                <a:pathLst>
                  <a:path h="716572" w="812800">
                    <a:moveTo>
                      <a:pt x="406400" y="0"/>
                    </a:moveTo>
                    <a:cubicBezTo>
                      <a:pt x="181951" y="0"/>
                      <a:pt x="0" y="160410"/>
                      <a:pt x="0" y="358286"/>
                    </a:cubicBezTo>
                    <a:cubicBezTo>
                      <a:pt x="0" y="556162"/>
                      <a:pt x="181951" y="716572"/>
                      <a:pt x="406400" y="716572"/>
                    </a:cubicBezTo>
                    <a:cubicBezTo>
                      <a:pt x="630849" y="716572"/>
                      <a:pt x="812800" y="556162"/>
                      <a:pt x="812800" y="358286"/>
                    </a:cubicBezTo>
                    <a:cubicBezTo>
                      <a:pt x="812800" y="160410"/>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3" id="33"/>
              <p:cNvSpPr txBox="true"/>
              <p:nvPr/>
            </p:nvSpPr>
            <p:spPr>
              <a:xfrm>
                <a:off x="76200" y="29079"/>
                <a:ext cx="660400" cy="620314"/>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75623" y="245086"/>
              <a:ext cx="644736" cy="359318"/>
            </a:xfrm>
            <a:prstGeom prst="rect">
              <a:avLst/>
            </a:prstGeom>
          </p:spPr>
          <p:txBody>
            <a:bodyPr anchor="t" rtlCol="false" tIns="0" lIns="0" bIns="0" rIns="0">
              <a:spAutoFit/>
            </a:bodyPr>
            <a:lstStyle/>
            <a:p>
              <a:pPr algn="ctr" marL="0" indent="0" lvl="0">
                <a:lnSpc>
                  <a:spcPts val="2104"/>
                </a:lnSpc>
              </a:pPr>
              <a:r>
                <a:rPr lang="en-US" sz="1631" spc="-4">
                  <a:solidFill>
                    <a:srgbClr val="FFFFFF"/>
                  </a:solidFill>
                  <a:latin typeface="Poppins"/>
                  <a:ea typeface="Poppins"/>
                  <a:cs typeface="Poppins"/>
                  <a:sym typeface="Poppins"/>
                </a:rPr>
                <a:t>01</a:t>
              </a:r>
            </a:p>
          </p:txBody>
        </p:sp>
      </p:grpSp>
      <p:grpSp>
        <p:nvGrpSpPr>
          <p:cNvPr name="Group 35" id="35"/>
          <p:cNvGrpSpPr/>
          <p:nvPr/>
        </p:nvGrpSpPr>
        <p:grpSpPr>
          <a:xfrm rot="0">
            <a:off x="8047037" y="5014478"/>
            <a:ext cx="746986" cy="658549"/>
            <a:chOff x="0" y="0"/>
            <a:chExt cx="995981" cy="878065"/>
          </a:xfrm>
        </p:grpSpPr>
        <p:grpSp>
          <p:nvGrpSpPr>
            <p:cNvPr name="Group 36" id="36"/>
            <p:cNvGrpSpPr/>
            <p:nvPr/>
          </p:nvGrpSpPr>
          <p:grpSpPr>
            <a:xfrm rot="0">
              <a:off x="0" y="0"/>
              <a:ext cx="995981" cy="878065"/>
              <a:chOff x="0" y="0"/>
              <a:chExt cx="812800" cy="716572"/>
            </a:xfrm>
          </p:grpSpPr>
          <p:sp>
            <p:nvSpPr>
              <p:cNvPr name="Freeform 37" id="37"/>
              <p:cNvSpPr/>
              <p:nvPr/>
            </p:nvSpPr>
            <p:spPr>
              <a:xfrm flipH="false" flipV="false" rot="0">
                <a:off x="0" y="0"/>
                <a:ext cx="812800" cy="716572"/>
              </a:xfrm>
              <a:custGeom>
                <a:avLst/>
                <a:gdLst/>
                <a:ahLst/>
                <a:cxnLst/>
                <a:rect r="r" b="b" t="t" l="l"/>
                <a:pathLst>
                  <a:path h="716572" w="812800">
                    <a:moveTo>
                      <a:pt x="406400" y="0"/>
                    </a:moveTo>
                    <a:cubicBezTo>
                      <a:pt x="181951" y="0"/>
                      <a:pt x="0" y="160410"/>
                      <a:pt x="0" y="358286"/>
                    </a:cubicBezTo>
                    <a:cubicBezTo>
                      <a:pt x="0" y="556162"/>
                      <a:pt x="181951" y="716572"/>
                      <a:pt x="406400" y="716572"/>
                    </a:cubicBezTo>
                    <a:cubicBezTo>
                      <a:pt x="630849" y="716572"/>
                      <a:pt x="812800" y="556162"/>
                      <a:pt x="812800" y="358286"/>
                    </a:cubicBezTo>
                    <a:cubicBezTo>
                      <a:pt x="812800" y="160410"/>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8" id="38"/>
              <p:cNvSpPr txBox="true"/>
              <p:nvPr/>
            </p:nvSpPr>
            <p:spPr>
              <a:xfrm>
                <a:off x="76200" y="29079"/>
                <a:ext cx="660400" cy="620314"/>
              </a:xfrm>
              <a:prstGeom prst="rect">
                <a:avLst/>
              </a:prstGeom>
            </p:spPr>
            <p:txBody>
              <a:bodyPr anchor="ctr" rtlCol="false" tIns="50800" lIns="50800" bIns="50800" rIns="50800"/>
              <a:lstStyle/>
              <a:p>
                <a:pPr algn="ctr" marL="0" indent="0" lvl="0">
                  <a:lnSpc>
                    <a:spcPts val="2659"/>
                  </a:lnSpc>
                </a:pPr>
              </a:p>
            </p:txBody>
          </p:sp>
        </p:grpSp>
        <p:sp>
          <p:nvSpPr>
            <p:cNvPr name="TextBox 39" id="39"/>
            <p:cNvSpPr txBox="true"/>
            <p:nvPr/>
          </p:nvSpPr>
          <p:spPr>
            <a:xfrm rot="0">
              <a:off x="175623" y="245086"/>
              <a:ext cx="644736" cy="359318"/>
            </a:xfrm>
            <a:prstGeom prst="rect">
              <a:avLst/>
            </a:prstGeom>
          </p:spPr>
          <p:txBody>
            <a:bodyPr anchor="t" rtlCol="false" tIns="0" lIns="0" bIns="0" rIns="0">
              <a:spAutoFit/>
            </a:bodyPr>
            <a:lstStyle/>
            <a:p>
              <a:pPr algn="ctr" marL="0" indent="0" lvl="0">
                <a:lnSpc>
                  <a:spcPts val="2104"/>
                </a:lnSpc>
              </a:pPr>
              <a:r>
                <a:rPr lang="en-US" sz="1631" spc="-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40" id="40"/>
          <p:cNvGrpSpPr/>
          <p:nvPr/>
        </p:nvGrpSpPr>
        <p:grpSpPr>
          <a:xfrm rot="0">
            <a:off x="11919608" y="5014478"/>
            <a:ext cx="746986" cy="658549"/>
            <a:chOff x="0" y="0"/>
            <a:chExt cx="995981" cy="878065"/>
          </a:xfrm>
        </p:grpSpPr>
        <p:grpSp>
          <p:nvGrpSpPr>
            <p:cNvPr name="Group 41" id="41"/>
            <p:cNvGrpSpPr/>
            <p:nvPr/>
          </p:nvGrpSpPr>
          <p:grpSpPr>
            <a:xfrm rot="0">
              <a:off x="0" y="0"/>
              <a:ext cx="995981" cy="878065"/>
              <a:chOff x="0" y="0"/>
              <a:chExt cx="812800" cy="716572"/>
            </a:xfrm>
          </p:grpSpPr>
          <p:sp>
            <p:nvSpPr>
              <p:cNvPr name="Freeform 42" id="42"/>
              <p:cNvSpPr/>
              <p:nvPr/>
            </p:nvSpPr>
            <p:spPr>
              <a:xfrm flipH="false" flipV="false" rot="0">
                <a:off x="0" y="0"/>
                <a:ext cx="812800" cy="716572"/>
              </a:xfrm>
              <a:custGeom>
                <a:avLst/>
                <a:gdLst/>
                <a:ahLst/>
                <a:cxnLst/>
                <a:rect r="r" b="b" t="t" l="l"/>
                <a:pathLst>
                  <a:path h="716572" w="812800">
                    <a:moveTo>
                      <a:pt x="406400" y="0"/>
                    </a:moveTo>
                    <a:cubicBezTo>
                      <a:pt x="181951" y="0"/>
                      <a:pt x="0" y="160410"/>
                      <a:pt x="0" y="358286"/>
                    </a:cubicBezTo>
                    <a:cubicBezTo>
                      <a:pt x="0" y="556162"/>
                      <a:pt x="181951" y="716572"/>
                      <a:pt x="406400" y="716572"/>
                    </a:cubicBezTo>
                    <a:cubicBezTo>
                      <a:pt x="630849" y="716572"/>
                      <a:pt x="812800" y="556162"/>
                      <a:pt x="812800" y="358286"/>
                    </a:cubicBezTo>
                    <a:cubicBezTo>
                      <a:pt x="812800" y="160410"/>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43" id="43"/>
              <p:cNvSpPr txBox="true"/>
              <p:nvPr/>
            </p:nvSpPr>
            <p:spPr>
              <a:xfrm>
                <a:off x="76200" y="29079"/>
                <a:ext cx="660400" cy="620314"/>
              </a:xfrm>
              <a:prstGeom prst="rect">
                <a:avLst/>
              </a:prstGeom>
            </p:spPr>
            <p:txBody>
              <a:bodyPr anchor="ctr" rtlCol="false" tIns="50800" lIns="50800" bIns="50800" rIns="50800"/>
              <a:lstStyle/>
              <a:p>
                <a:pPr algn="ctr" marL="0" indent="0" lvl="0">
                  <a:lnSpc>
                    <a:spcPts val="2659"/>
                  </a:lnSpc>
                </a:pPr>
              </a:p>
            </p:txBody>
          </p:sp>
        </p:grpSp>
        <p:sp>
          <p:nvSpPr>
            <p:cNvPr name="TextBox 44" id="44"/>
            <p:cNvSpPr txBox="true"/>
            <p:nvPr/>
          </p:nvSpPr>
          <p:spPr>
            <a:xfrm rot="0">
              <a:off x="175623" y="245086"/>
              <a:ext cx="644736" cy="359318"/>
            </a:xfrm>
            <a:prstGeom prst="rect">
              <a:avLst/>
            </a:prstGeom>
          </p:spPr>
          <p:txBody>
            <a:bodyPr anchor="t" rtlCol="false" tIns="0" lIns="0" bIns="0" rIns="0">
              <a:spAutoFit/>
            </a:bodyPr>
            <a:lstStyle/>
            <a:p>
              <a:pPr algn="ctr" marL="0" indent="0" lvl="0">
                <a:lnSpc>
                  <a:spcPts val="2104"/>
                </a:lnSpc>
              </a:pPr>
              <a:r>
                <a:rPr lang="en-US" sz="1631" spc="-4">
                  <a:solidFill>
                    <a:srgbClr val="FFFFFF"/>
                  </a:solidFill>
                  <a:latin typeface="Poppins"/>
                  <a:ea typeface="Poppins"/>
                  <a:cs typeface="Poppins"/>
                  <a:sym typeface="Poppins"/>
                </a:rPr>
                <a:t>03</a:t>
              </a:r>
            </a:p>
          </p:txBody>
        </p:sp>
      </p:grpSp>
      <p:grpSp>
        <p:nvGrpSpPr>
          <p:cNvPr name="Group 45" id="45"/>
          <p:cNvGrpSpPr/>
          <p:nvPr/>
        </p:nvGrpSpPr>
        <p:grpSpPr>
          <a:xfrm rot="0">
            <a:off x="15791068" y="5014478"/>
            <a:ext cx="746986" cy="658549"/>
            <a:chOff x="0" y="0"/>
            <a:chExt cx="995981" cy="878065"/>
          </a:xfrm>
        </p:grpSpPr>
        <p:grpSp>
          <p:nvGrpSpPr>
            <p:cNvPr name="Group 46" id="46"/>
            <p:cNvGrpSpPr/>
            <p:nvPr/>
          </p:nvGrpSpPr>
          <p:grpSpPr>
            <a:xfrm rot="0">
              <a:off x="0" y="0"/>
              <a:ext cx="995981" cy="878065"/>
              <a:chOff x="0" y="0"/>
              <a:chExt cx="812800" cy="716572"/>
            </a:xfrm>
          </p:grpSpPr>
          <p:sp>
            <p:nvSpPr>
              <p:cNvPr name="Freeform 47" id="47"/>
              <p:cNvSpPr/>
              <p:nvPr/>
            </p:nvSpPr>
            <p:spPr>
              <a:xfrm flipH="false" flipV="false" rot="0">
                <a:off x="0" y="0"/>
                <a:ext cx="812800" cy="716572"/>
              </a:xfrm>
              <a:custGeom>
                <a:avLst/>
                <a:gdLst/>
                <a:ahLst/>
                <a:cxnLst/>
                <a:rect r="r" b="b" t="t" l="l"/>
                <a:pathLst>
                  <a:path h="716572" w="812800">
                    <a:moveTo>
                      <a:pt x="406400" y="0"/>
                    </a:moveTo>
                    <a:cubicBezTo>
                      <a:pt x="181951" y="0"/>
                      <a:pt x="0" y="160410"/>
                      <a:pt x="0" y="358286"/>
                    </a:cubicBezTo>
                    <a:cubicBezTo>
                      <a:pt x="0" y="556162"/>
                      <a:pt x="181951" y="716572"/>
                      <a:pt x="406400" y="716572"/>
                    </a:cubicBezTo>
                    <a:cubicBezTo>
                      <a:pt x="630849" y="716572"/>
                      <a:pt x="812800" y="556162"/>
                      <a:pt x="812800" y="358286"/>
                    </a:cubicBezTo>
                    <a:cubicBezTo>
                      <a:pt x="812800" y="160410"/>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48" id="48"/>
              <p:cNvSpPr txBox="true"/>
              <p:nvPr/>
            </p:nvSpPr>
            <p:spPr>
              <a:xfrm>
                <a:off x="76200" y="29079"/>
                <a:ext cx="660400" cy="620314"/>
              </a:xfrm>
              <a:prstGeom prst="rect">
                <a:avLst/>
              </a:prstGeom>
            </p:spPr>
            <p:txBody>
              <a:bodyPr anchor="ctr" rtlCol="false" tIns="50800" lIns="50800" bIns="50800" rIns="50800"/>
              <a:lstStyle/>
              <a:p>
                <a:pPr algn="ctr" marL="0" indent="0" lvl="0">
                  <a:lnSpc>
                    <a:spcPts val="2659"/>
                  </a:lnSpc>
                </a:pPr>
              </a:p>
            </p:txBody>
          </p:sp>
        </p:grpSp>
        <p:sp>
          <p:nvSpPr>
            <p:cNvPr name="TextBox 49" id="49"/>
            <p:cNvSpPr txBox="true"/>
            <p:nvPr/>
          </p:nvSpPr>
          <p:spPr>
            <a:xfrm rot="0">
              <a:off x="175623" y="245086"/>
              <a:ext cx="644736" cy="359318"/>
            </a:xfrm>
            <a:prstGeom prst="rect">
              <a:avLst/>
            </a:prstGeom>
          </p:spPr>
          <p:txBody>
            <a:bodyPr anchor="t" rtlCol="false" tIns="0" lIns="0" bIns="0" rIns="0">
              <a:spAutoFit/>
            </a:bodyPr>
            <a:lstStyle/>
            <a:p>
              <a:pPr algn="ctr" marL="0" indent="0" lvl="0">
                <a:lnSpc>
                  <a:spcPts val="2104"/>
                </a:lnSpc>
              </a:pPr>
              <a:r>
                <a:rPr lang="en-US" sz="1631" spc="-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TextBox 50" id="50"/>
          <p:cNvSpPr txBox="true"/>
          <p:nvPr/>
        </p:nvSpPr>
        <p:spPr>
          <a:xfrm rot="0">
            <a:off x="3363658" y="1531339"/>
            <a:ext cx="11560683" cy="1273720"/>
          </a:xfrm>
          <a:prstGeom prst="rect">
            <a:avLst/>
          </a:prstGeom>
        </p:spPr>
        <p:txBody>
          <a:bodyPr anchor="t" rtlCol="false" tIns="0" lIns="0" bIns="0" rIns="0">
            <a:spAutoFit/>
          </a:bodyPr>
          <a:lstStyle/>
          <a:p>
            <a:pPr algn="ctr"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Dataset &amp; Tools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327244"/>
            <a:ext cx="1849954" cy="1520923"/>
            <a:chOff x="0" y="0"/>
            <a:chExt cx="2466605" cy="2027897"/>
          </a:xfrm>
        </p:grpSpPr>
        <p:grpSp>
          <p:nvGrpSpPr>
            <p:cNvPr name="Group 3" id="3"/>
            <p:cNvGrpSpPr/>
            <p:nvPr/>
          </p:nvGrpSpPr>
          <p:grpSpPr>
            <a:xfrm rot="0">
              <a:off x="0" y="0"/>
              <a:ext cx="2466605" cy="2027897"/>
              <a:chOff x="0" y="0"/>
              <a:chExt cx="787566" cy="647490"/>
            </a:xfrm>
          </p:grpSpPr>
          <p:sp>
            <p:nvSpPr>
              <p:cNvPr name="Freeform 4" id="4"/>
              <p:cNvSpPr/>
              <p:nvPr/>
            </p:nvSpPr>
            <p:spPr>
              <a:xfrm flipH="false" flipV="false" rot="0">
                <a:off x="0" y="0"/>
                <a:ext cx="787566" cy="647490"/>
              </a:xfrm>
              <a:custGeom>
                <a:avLst/>
                <a:gdLst/>
                <a:ahLst/>
                <a:cxnLst/>
                <a:rect r="r" b="b" t="t" l="l"/>
                <a:pathLst>
                  <a:path h="647490" w="787566">
                    <a:moveTo>
                      <a:pt x="0" y="0"/>
                    </a:moveTo>
                    <a:lnTo>
                      <a:pt x="787566" y="0"/>
                    </a:lnTo>
                    <a:lnTo>
                      <a:pt x="787566" y="647490"/>
                    </a:lnTo>
                    <a:lnTo>
                      <a:pt x="0" y="64749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68559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46424"/>
              <a:ext cx="1828278" cy="811249"/>
            </a:xfrm>
            <a:prstGeom prst="rect">
              <a:avLst/>
            </a:prstGeom>
          </p:spPr>
          <p:txBody>
            <a:bodyPr anchor="t" rtlCol="false" tIns="0" lIns="0" bIns="0" rIns="0">
              <a:spAutoFit/>
            </a:bodyPr>
            <a:lstStyle/>
            <a:p>
              <a:pPr algn="ctr" marL="0" indent="0" lvl="0">
                <a:lnSpc>
                  <a:spcPts val="4302"/>
                </a:lnSpc>
              </a:pPr>
              <a:r>
                <a:rPr lang="en-US" sz="4390" spc="-280">
                  <a:solidFill>
                    <a:srgbClr val="FFFFFF"/>
                  </a:solidFill>
                  <a:latin typeface="Bricolage Grotesque"/>
                  <a:ea typeface="Bricolage Grotesque"/>
                  <a:cs typeface="Bricolage Grotesque"/>
                  <a:sym typeface="Bricolage Grotesque"/>
                </a:rPr>
                <a:t>04</a:t>
              </a:r>
            </a:p>
          </p:txBody>
        </p:sp>
      </p:grpSp>
      <p:sp>
        <p:nvSpPr>
          <p:cNvPr name="TextBox 7" id="7"/>
          <p:cNvSpPr txBox="true"/>
          <p:nvPr/>
        </p:nvSpPr>
        <p:spPr>
          <a:xfrm rot="0">
            <a:off x="5536445" y="2875063"/>
            <a:ext cx="7052869" cy="283539"/>
          </a:xfrm>
          <a:prstGeom prst="rect">
            <a:avLst/>
          </a:prstGeom>
        </p:spPr>
        <p:txBody>
          <a:bodyPr anchor="t" rtlCol="false" tIns="0" lIns="0" bIns="0" rIns="0">
            <a:spAutoFit/>
          </a:bodyPr>
          <a:lstStyle/>
          <a:p>
            <a:pPr algn="l" marL="0" indent="0" lvl="0">
              <a:lnSpc>
                <a:spcPts val="2221"/>
              </a:lnSpc>
            </a:pPr>
            <a:r>
              <a:rPr lang="en-US" b="true" sz="1587" spc="-3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END-TO-END METHODOLOGY FROM RAW DATA TO ACTIONABLE INSIGHTS</a:t>
            </a:r>
          </a:p>
        </p:txBody>
      </p:sp>
      <p:sp>
        <p:nvSpPr>
          <p:cNvPr name="Freeform 8" id="8"/>
          <p:cNvSpPr/>
          <p:nvPr/>
        </p:nvSpPr>
        <p:spPr>
          <a:xfrm flipH="false" flipV="false" rot="-8687136">
            <a:off x="12523315" y="2793920"/>
            <a:ext cx="189150" cy="228643"/>
          </a:xfrm>
          <a:custGeom>
            <a:avLst/>
            <a:gdLst/>
            <a:ahLst/>
            <a:cxnLst/>
            <a:rect r="r" b="b" t="t" l="l"/>
            <a:pathLst>
              <a:path h="228643" w="189150">
                <a:moveTo>
                  <a:pt x="0" y="0"/>
                </a:moveTo>
                <a:lnTo>
                  <a:pt x="189150" y="0"/>
                </a:lnTo>
                <a:lnTo>
                  <a:pt x="189150" y="228643"/>
                </a:lnTo>
                <a:lnTo>
                  <a:pt x="0" y="2286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363658" y="1247968"/>
            <a:ext cx="11560683" cy="1273720"/>
          </a:xfrm>
          <a:prstGeom prst="rect">
            <a:avLst/>
          </a:prstGeom>
        </p:spPr>
        <p:txBody>
          <a:bodyPr anchor="t" rtlCol="false" tIns="0" lIns="0" bIns="0" rIns="0">
            <a:spAutoFit/>
          </a:bodyPr>
          <a:lstStyle/>
          <a:p>
            <a:pPr algn="ctr"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Analytics Workflow</a:t>
            </a:r>
          </a:p>
        </p:txBody>
      </p:sp>
      <p:grpSp>
        <p:nvGrpSpPr>
          <p:cNvPr name="Group 10" id="10"/>
          <p:cNvGrpSpPr/>
          <p:nvPr/>
        </p:nvGrpSpPr>
        <p:grpSpPr>
          <a:xfrm rot="0">
            <a:off x="2731310" y="3878731"/>
            <a:ext cx="3213033" cy="5379569"/>
            <a:chOff x="0" y="0"/>
            <a:chExt cx="1387961" cy="2323857"/>
          </a:xfrm>
        </p:grpSpPr>
        <p:sp>
          <p:nvSpPr>
            <p:cNvPr name="Freeform 11" id="11"/>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2B42A8"/>
            </a:solidFill>
          </p:spPr>
        </p:sp>
        <p:sp>
          <p:nvSpPr>
            <p:cNvPr name="TextBox 12" id="12"/>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3" id="13"/>
          <p:cNvGrpSpPr/>
          <p:nvPr/>
        </p:nvGrpSpPr>
        <p:grpSpPr>
          <a:xfrm rot="0">
            <a:off x="5935426" y="3878731"/>
            <a:ext cx="3213033" cy="5379569"/>
            <a:chOff x="0" y="0"/>
            <a:chExt cx="1387961" cy="2323857"/>
          </a:xfrm>
        </p:grpSpPr>
        <p:sp>
          <p:nvSpPr>
            <p:cNvPr name="Freeform 14" id="14"/>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3A58E4"/>
            </a:solidFill>
          </p:spPr>
        </p:sp>
        <p:sp>
          <p:nvSpPr>
            <p:cNvPr name="TextBox 15" id="15"/>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6" id="16"/>
          <p:cNvGrpSpPr/>
          <p:nvPr/>
        </p:nvGrpSpPr>
        <p:grpSpPr>
          <a:xfrm rot="0">
            <a:off x="9139541" y="3878731"/>
            <a:ext cx="3213033" cy="5379569"/>
            <a:chOff x="0" y="0"/>
            <a:chExt cx="1387961" cy="2323857"/>
          </a:xfrm>
        </p:grpSpPr>
        <p:sp>
          <p:nvSpPr>
            <p:cNvPr name="Freeform 17" id="17"/>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6984FE"/>
            </a:solidFill>
          </p:spPr>
        </p:sp>
        <p:sp>
          <p:nvSpPr>
            <p:cNvPr name="TextBox 18" id="18"/>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9" id="19"/>
          <p:cNvGrpSpPr/>
          <p:nvPr/>
        </p:nvGrpSpPr>
        <p:grpSpPr>
          <a:xfrm rot="0">
            <a:off x="12343657" y="3878731"/>
            <a:ext cx="3213033" cy="5379569"/>
            <a:chOff x="0" y="0"/>
            <a:chExt cx="1387961" cy="2323857"/>
          </a:xfrm>
        </p:grpSpPr>
        <p:sp>
          <p:nvSpPr>
            <p:cNvPr name="Freeform 20" id="20"/>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9AADFF"/>
            </a:solidFill>
          </p:spPr>
        </p:sp>
        <p:sp>
          <p:nvSpPr>
            <p:cNvPr name="TextBox 21" id="21"/>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2" id="22"/>
          <p:cNvGrpSpPr/>
          <p:nvPr/>
        </p:nvGrpSpPr>
        <p:grpSpPr>
          <a:xfrm rot="5400000">
            <a:off x="2595745" y="7780405"/>
            <a:ext cx="622999" cy="351870"/>
            <a:chOff x="0" y="0"/>
            <a:chExt cx="1387983" cy="784032"/>
          </a:xfrm>
        </p:grpSpPr>
        <p:sp>
          <p:nvSpPr>
            <p:cNvPr name="Freeform 23" id="23"/>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AFBEFF"/>
            </a:solidFill>
          </p:spPr>
        </p:sp>
        <p:sp>
          <p:nvSpPr>
            <p:cNvPr name="TextBox 24" id="24"/>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5" id="25"/>
          <p:cNvGrpSpPr/>
          <p:nvPr/>
        </p:nvGrpSpPr>
        <p:grpSpPr>
          <a:xfrm rot="5400000">
            <a:off x="5780811" y="5004756"/>
            <a:ext cx="622999" cy="351870"/>
            <a:chOff x="0" y="0"/>
            <a:chExt cx="1387983" cy="784032"/>
          </a:xfrm>
        </p:grpSpPr>
        <p:sp>
          <p:nvSpPr>
            <p:cNvPr name="Freeform 26" id="26"/>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2B42A8"/>
            </a:solidFill>
          </p:spPr>
        </p:sp>
        <p:sp>
          <p:nvSpPr>
            <p:cNvPr name="TextBox 27" id="27"/>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8" id="28"/>
          <p:cNvGrpSpPr/>
          <p:nvPr/>
        </p:nvGrpSpPr>
        <p:grpSpPr>
          <a:xfrm rot="5400000">
            <a:off x="8984927" y="7780405"/>
            <a:ext cx="622999" cy="351870"/>
            <a:chOff x="0" y="0"/>
            <a:chExt cx="1387983" cy="784032"/>
          </a:xfrm>
        </p:grpSpPr>
        <p:sp>
          <p:nvSpPr>
            <p:cNvPr name="Freeform 29" id="29"/>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3A58E4"/>
            </a:solidFill>
          </p:spPr>
        </p:sp>
        <p:sp>
          <p:nvSpPr>
            <p:cNvPr name="TextBox 30" id="30"/>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1" id="31"/>
          <p:cNvGrpSpPr/>
          <p:nvPr/>
        </p:nvGrpSpPr>
        <p:grpSpPr>
          <a:xfrm rot="5400000">
            <a:off x="12179518" y="5004756"/>
            <a:ext cx="622999" cy="351870"/>
            <a:chOff x="0" y="0"/>
            <a:chExt cx="1387983" cy="784032"/>
          </a:xfrm>
        </p:grpSpPr>
        <p:sp>
          <p:nvSpPr>
            <p:cNvPr name="Freeform 32" id="32"/>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6984FE"/>
            </a:solidFill>
          </p:spPr>
        </p:sp>
        <p:sp>
          <p:nvSpPr>
            <p:cNvPr name="TextBox 33" id="33"/>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4" id="34"/>
          <p:cNvGrpSpPr/>
          <p:nvPr/>
        </p:nvGrpSpPr>
        <p:grpSpPr>
          <a:xfrm rot="0">
            <a:off x="3269864" y="4965205"/>
            <a:ext cx="2135924" cy="1319092"/>
            <a:chOff x="0" y="0"/>
            <a:chExt cx="2847898" cy="1758790"/>
          </a:xfrm>
        </p:grpSpPr>
        <p:sp>
          <p:nvSpPr>
            <p:cNvPr name="TextBox 35" id="35"/>
            <p:cNvSpPr txBox="true"/>
            <p:nvPr/>
          </p:nvSpPr>
          <p:spPr>
            <a:xfrm rot="0">
              <a:off x="0" y="-19050"/>
              <a:ext cx="2847898" cy="606524"/>
            </a:xfrm>
            <a:prstGeom prst="rect">
              <a:avLst/>
            </a:prstGeom>
          </p:spPr>
          <p:txBody>
            <a:bodyPr anchor="t" rtlCol="false" tIns="0" lIns="0" bIns="0" rIns="0">
              <a:spAutoFit/>
            </a:bodyPr>
            <a:lstStyle/>
            <a:p>
              <a:pPr algn="just" marL="0" indent="0" lvl="0">
                <a:lnSpc>
                  <a:spcPts val="1872"/>
                </a:lnSpc>
              </a:pPr>
              <a:r>
                <a:rPr lang="en-US" b="true" sz="1451" spc="-4">
                  <a:solidFill>
                    <a:srgbClr val="FFFFFF"/>
                  </a:solidFill>
                  <a:latin typeface="Poppins Bold"/>
                  <a:ea typeface="Poppins Bold"/>
                  <a:cs typeface="Poppins Bold"/>
                  <a:sym typeface="Poppins Bold"/>
                </a:rPr>
                <a:t>DATA</a:t>
              </a:r>
            </a:p>
            <a:p>
              <a:pPr algn="just" marL="0" indent="0" lvl="0">
                <a:lnSpc>
                  <a:spcPts val="1872"/>
                </a:lnSpc>
              </a:pPr>
              <a:r>
                <a:rPr lang="en-US" b="true" sz="1451" spc="-4">
                  <a:solidFill>
                    <a:srgbClr val="FFFFFF"/>
                  </a:solidFill>
                  <a:latin typeface="Poppins Bold"/>
                  <a:ea typeface="Poppins Bold"/>
                  <a:cs typeface="Poppins Bold"/>
                  <a:sym typeface="Poppins Bold"/>
                </a:rPr>
                <a:t>COLLECTION</a:t>
              </a:r>
            </a:p>
          </p:txBody>
        </p:sp>
        <p:sp>
          <p:nvSpPr>
            <p:cNvPr name="TextBox 36" id="36"/>
            <p:cNvSpPr txBox="true"/>
            <p:nvPr/>
          </p:nvSpPr>
          <p:spPr>
            <a:xfrm rot="0">
              <a:off x="0" y="874845"/>
              <a:ext cx="2847898" cy="883945"/>
            </a:xfrm>
            <a:prstGeom prst="rect">
              <a:avLst/>
            </a:prstGeom>
          </p:spPr>
          <p:txBody>
            <a:bodyPr anchor="t" rtlCol="false" tIns="0" lIns="0" bIns="0" rIns="0">
              <a:spAutoFit/>
            </a:bodyPr>
            <a:lstStyle/>
            <a:p>
              <a:pPr algn="just" marL="0" indent="0" lvl="0">
                <a:lnSpc>
                  <a:spcPts val="1771"/>
                </a:lnSpc>
              </a:pPr>
              <a:r>
                <a:rPr lang="en-US" sz="1373" spc="-4">
                  <a:solidFill>
                    <a:srgbClr val="FFFFFF"/>
                  </a:solidFill>
                  <a:latin typeface="Poppins"/>
                  <a:ea typeface="Poppins"/>
                  <a:cs typeface="Poppins"/>
                  <a:sym typeface="Poppins"/>
                </a:rPr>
                <a:t>Gather raw footwear sales data from online dataset provider.</a:t>
              </a:r>
            </a:p>
          </p:txBody>
        </p:sp>
      </p:grpSp>
      <p:sp>
        <p:nvSpPr>
          <p:cNvPr name="TextBox 37" id="37"/>
          <p:cNvSpPr txBox="true"/>
          <p:nvPr/>
        </p:nvSpPr>
        <p:spPr>
          <a:xfrm rot="0">
            <a:off x="4470562" y="7518972"/>
            <a:ext cx="1445813"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01</a:t>
            </a:r>
          </a:p>
        </p:txBody>
      </p:sp>
      <p:grpSp>
        <p:nvGrpSpPr>
          <p:cNvPr name="Group 38" id="38"/>
          <p:cNvGrpSpPr/>
          <p:nvPr/>
        </p:nvGrpSpPr>
        <p:grpSpPr>
          <a:xfrm rot="0">
            <a:off x="6473980" y="6833498"/>
            <a:ext cx="2135924" cy="1757242"/>
            <a:chOff x="0" y="0"/>
            <a:chExt cx="2847898" cy="2342990"/>
          </a:xfrm>
        </p:grpSpPr>
        <p:sp>
          <p:nvSpPr>
            <p:cNvPr name="TextBox 39" id="39"/>
            <p:cNvSpPr txBox="true"/>
            <p:nvPr/>
          </p:nvSpPr>
          <p:spPr>
            <a:xfrm rot="0">
              <a:off x="0" y="-19050"/>
              <a:ext cx="2847898" cy="606524"/>
            </a:xfrm>
            <a:prstGeom prst="rect">
              <a:avLst/>
            </a:prstGeom>
          </p:spPr>
          <p:txBody>
            <a:bodyPr anchor="t" rtlCol="false" tIns="0" lIns="0" bIns="0" rIns="0">
              <a:spAutoFit/>
            </a:bodyPr>
            <a:lstStyle/>
            <a:p>
              <a:pPr algn="just" marL="0" indent="0" lvl="0">
                <a:lnSpc>
                  <a:spcPts val="1872"/>
                </a:lnSpc>
              </a:pPr>
              <a:r>
                <a:rPr lang="en-US" b="true" sz="1451" spc="-4">
                  <a:solidFill>
                    <a:srgbClr val="FFFFFF"/>
                  </a:solidFill>
                  <a:latin typeface="Poppins Bold"/>
                  <a:ea typeface="Poppins Bold"/>
                  <a:cs typeface="Poppins Bold"/>
                  <a:sym typeface="Poppins Bold"/>
                </a:rPr>
                <a:t>DATA CLEANING &amp;</a:t>
              </a:r>
            </a:p>
            <a:p>
              <a:pPr algn="just" marL="0" indent="0" lvl="0">
                <a:lnSpc>
                  <a:spcPts val="1872"/>
                </a:lnSpc>
              </a:pPr>
              <a:r>
                <a:rPr lang="en-US" b="true" sz="1451" spc="-4">
                  <a:solidFill>
                    <a:srgbClr val="FFFFFF"/>
                  </a:solidFill>
                  <a:latin typeface="Poppins Bold"/>
                  <a:ea typeface="Poppins Bold"/>
                  <a:cs typeface="Poppins Bold"/>
                  <a:sym typeface="Poppins Bold"/>
                </a:rPr>
                <a:t>TRANSFORMATION</a:t>
              </a:r>
            </a:p>
          </p:txBody>
        </p:sp>
        <p:sp>
          <p:nvSpPr>
            <p:cNvPr name="TextBox 40" id="40"/>
            <p:cNvSpPr txBox="true"/>
            <p:nvPr/>
          </p:nvSpPr>
          <p:spPr>
            <a:xfrm rot="0">
              <a:off x="0" y="874845"/>
              <a:ext cx="2847898" cy="1468145"/>
            </a:xfrm>
            <a:prstGeom prst="rect">
              <a:avLst/>
            </a:prstGeom>
          </p:spPr>
          <p:txBody>
            <a:bodyPr anchor="t" rtlCol="false" tIns="0" lIns="0" bIns="0" rIns="0">
              <a:spAutoFit/>
            </a:bodyPr>
            <a:lstStyle/>
            <a:p>
              <a:pPr algn="just" marL="0" indent="0" lvl="0">
                <a:lnSpc>
                  <a:spcPts val="1771"/>
                </a:lnSpc>
              </a:pPr>
              <a:r>
                <a:rPr lang="en-US" sz="1373" spc="-4">
                  <a:solidFill>
                    <a:srgbClr val="FFFFFF"/>
                  </a:solidFill>
                  <a:latin typeface="Poppins"/>
                  <a:ea typeface="Poppins"/>
                  <a:cs typeface="Poppins"/>
                  <a:sym typeface="Poppins"/>
                </a:rPr>
                <a:t>Standardize formats, remove duplicates, handle nulls, and transform data using Excel Power Query.</a:t>
              </a:r>
            </a:p>
          </p:txBody>
        </p:sp>
      </p:grpSp>
      <p:sp>
        <p:nvSpPr>
          <p:cNvPr name="TextBox 41" id="41"/>
          <p:cNvSpPr txBox="true"/>
          <p:nvPr/>
        </p:nvSpPr>
        <p:spPr>
          <a:xfrm rot="0">
            <a:off x="7425798" y="4070729"/>
            <a:ext cx="1578549"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02</a:t>
            </a:r>
          </a:p>
        </p:txBody>
      </p:sp>
      <p:grpSp>
        <p:nvGrpSpPr>
          <p:cNvPr name="Group 42" id="42"/>
          <p:cNvGrpSpPr/>
          <p:nvPr/>
        </p:nvGrpSpPr>
        <p:grpSpPr>
          <a:xfrm rot="0">
            <a:off x="9681912" y="4527055"/>
            <a:ext cx="2135924" cy="1757242"/>
            <a:chOff x="0" y="0"/>
            <a:chExt cx="2847898" cy="2342990"/>
          </a:xfrm>
        </p:grpSpPr>
        <p:sp>
          <p:nvSpPr>
            <p:cNvPr name="TextBox 43" id="43"/>
            <p:cNvSpPr txBox="true"/>
            <p:nvPr/>
          </p:nvSpPr>
          <p:spPr>
            <a:xfrm rot="0">
              <a:off x="0" y="-19050"/>
              <a:ext cx="2847898" cy="606524"/>
            </a:xfrm>
            <a:prstGeom prst="rect">
              <a:avLst/>
            </a:prstGeom>
          </p:spPr>
          <p:txBody>
            <a:bodyPr anchor="t" rtlCol="false" tIns="0" lIns="0" bIns="0" rIns="0">
              <a:spAutoFit/>
            </a:bodyPr>
            <a:lstStyle/>
            <a:p>
              <a:pPr algn="just" marL="0" indent="0" lvl="0">
                <a:lnSpc>
                  <a:spcPts val="1872"/>
                </a:lnSpc>
              </a:pPr>
              <a:r>
                <a:rPr lang="en-US" b="true" sz="1451" spc="-4">
                  <a:solidFill>
                    <a:srgbClr val="FFFFFF"/>
                  </a:solidFill>
                  <a:latin typeface="Poppins Bold"/>
                  <a:ea typeface="Poppins Bold"/>
                  <a:cs typeface="Poppins Bold"/>
                  <a:sym typeface="Poppins Bold"/>
                </a:rPr>
                <a:t>DATABASE DESIGN</a:t>
              </a:r>
            </a:p>
            <a:p>
              <a:pPr algn="just" marL="0" indent="0" lvl="0">
                <a:lnSpc>
                  <a:spcPts val="1872"/>
                </a:lnSpc>
              </a:pPr>
              <a:r>
                <a:rPr lang="en-US" b="true" sz="1451" spc="-4">
                  <a:solidFill>
                    <a:srgbClr val="FFFFFF"/>
                  </a:solidFill>
                  <a:latin typeface="Poppins Bold"/>
                  <a:ea typeface="Poppins Bold"/>
                  <a:cs typeface="Poppins Bold"/>
                  <a:sym typeface="Poppins Bold"/>
                </a:rPr>
                <a:t>&amp; SQL QUERIES</a:t>
              </a:r>
            </a:p>
          </p:txBody>
        </p:sp>
        <p:sp>
          <p:nvSpPr>
            <p:cNvPr name="TextBox 44" id="44"/>
            <p:cNvSpPr txBox="true"/>
            <p:nvPr/>
          </p:nvSpPr>
          <p:spPr>
            <a:xfrm rot="0">
              <a:off x="0" y="874845"/>
              <a:ext cx="2847898" cy="1468145"/>
            </a:xfrm>
            <a:prstGeom prst="rect">
              <a:avLst/>
            </a:prstGeom>
          </p:spPr>
          <p:txBody>
            <a:bodyPr anchor="t" rtlCol="false" tIns="0" lIns="0" bIns="0" rIns="0">
              <a:spAutoFit/>
            </a:bodyPr>
            <a:lstStyle/>
            <a:p>
              <a:pPr algn="just" marL="0" indent="0" lvl="0">
                <a:lnSpc>
                  <a:spcPts val="1771"/>
                </a:lnSpc>
              </a:pPr>
              <a:r>
                <a:rPr lang="en-US" sz="1373" spc="-4">
                  <a:solidFill>
                    <a:srgbClr val="FFFFFF"/>
                  </a:solidFill>
                  <a:latin typeface="Poppins"/>
                  <a:ea typeface="Poppins"/>
                  <a:cs typeface="Poppins"/>
                  <a:sym typeface="Poppins"/>
                </a:rPr>
                <a:t>Design relational schema in MySQL, write optimized queries for sales trends, KPIs, and segmentation.</a:t>
              </a:r>
            </a:p>
          </p:txBody>
        </p:sp>
      </p:grpSp>
      <p:sp>
        <p:nvSpPr>
          <p:cNvPr name="TextBox 45" id="45"/>
          <p:cNvSpPr txBox="true"/>
          <p:nvPr/>
        </p:nvSpPr>
        <p:spPr>
          <a:xfrm rot="0">
            <a:off x="10617138" y="7518972"/>
            <a:ext cx="1711285"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03</a:t>
            </a:r>
          </a:p>
        </p:txBody>
      </p:sp>
      <p:grpSp>
        <p:nvGrpSpPr>
          <p:cNvPr name="Group 46" id="46"/>
          <p:cNvGrpSpPr/>
          <p:nvPr/>
        </p:nvGrpSpPr>
        <p:grpSpPr>
          <a:xfrm rot="0">
            <a:off x="12886027" y="6614423"/>
            <a:ext cx="2135924" cy="1976317"/>
            <a:chOff x="0" y="0"/>
            <a:chExt cx="2847898" cy="2635090"/>
          </a:xfrm>
        </p:grpSpPr>
        <p:sp>
          <p:nvSpPr>
            <p:cNvPr name="TextBox 47" id="47"/>
            <p:cNvSpPr txBox="true"/>
            <p:nvPr/>
          </p:nvSpPr>
          <p:spPr>
            <a:xfrm rot="0">
              <a:off x="0" y="-19050"/>
              <a:ext cx="2847898" cy="606524"/>
            </a:xfrm>
            <a:prstGeom prst="rect">
              <a:avLst/>
            </a:prstGeom>
          </p:spPr>
          <p:txBody>
            <a:bodyPr anchor="t" rtlCol="false" tIns="0" lIns="0" bIns="0" rIns="0">
              <a:spAutoFit/>
            </a:bodyPr>
            <a:lstStyle/>
            <a:p>
              <a:pPr algn="just" marL="0" indent="0" lvl="0">
                <a:lnSpc>
                  <a:spcPts val="1872"/>
                </a:lnSpc>
              </a:pPr>
              <a:r>
                <a:rPr lang="en-US" b="true" sz="1451" spc="-4">
                  <a:solidFill>
                    <a:srgbClr val="FFFFFF"/>
                  </a:solidFill>
                  <a:latin typeface="Poppins Bold"/>
                  <a:ea typeface="Poppins Bold"/>
                  <a:cs typeface="Poppins Bold"/>
                  <a:sym typeface="Poppins Bold"/>
                </a:rPr>
                <a:t>DASHBOARD</a:t>
              </a:r>
            </a:p>
            <a:p>
              <a:pPr algn="just" marL="0" indent="0" lvl="0">
                <a:lnSpc>
                  <a:spcPts val="1872"/>
                </a:lnSpc>
              </a:pPr>
              <a:r>
                <a:rPr lang="en-US" b="true" sz="1451" spc="-4">
                  <a:solidFill>
                    <a:srgbClr val="FFFFFF"/>
                  </a:solidFill>
                  <a:latin typeface="Poppins Bold"/>
                  <a:ea typeface="Poppins Bold"/>
                  <a:cs typeface="Poppins Bold"/>
                  <a:sym typeface="Poppins Bold"/>
                </a:rPr>
                <a:t>DEVELOPMENT</a:t>
              </a:r>
            </a:p>
          </p:txBody>
        </p:sp>
        <p:sp>
          <p:nvSpPr>
            <p:cNvPr name="TextBox 48" id="48"/>
            <p:cNvSpPr txBox="true"/>
            <p:nvPr/>
          </p:nvSpPr>
          <p:spPr>
            <a:xfrm rot="0">
              <a:off x="0" y="874845"/>
              <a:ext cx="2847898" cy="1760245"/>
            </a:xfrm>
            <a:prstGeom prst="rect">
              <a:avLst/>
            </a:prstGeom>
          </p:spPr>
          <p:txBody>
            <a:bodyPr anchor="t" rtlCol="false" tIns="0" lIns="0" bIns="0" rIns="0">
              <a:spAutoFit/>
            </a:bodyPr>
            <a:lstStyle/>
            <a:p>
              <a:pPr algn="just" marL="0" indent="0" lvl="0">
                <a:lnSpc>
                  <a:spcPts val="1771"/>
                </a:lnSpc>
              </a:pPr>
              <a:r>
                <a:rPr lang="en-US" sz="1373" spc="-4">
                  <a:solidFill>
                    <a:srgbClr val="FFFFFF"/>
                  </a:solidFill>
                  <a:latin typeface="Poppins"/>
                  <a:ea typeface="Poppins"/>
                  <a:cs typeface="Poppins"/>
                  <a:sym typeface="Poppins"/>
                </a:rPr>
                <a:t>Connect MySQL to Power BI, build interactive visuals, slicers, and DAX measures for business insights.</a:t>
              </a:r>
            </a:p>
          </p:txBody>
        </p:sp>
      </p:grpSp>
      <p:sp>
        <p:nvSpPr>
          <p:cNvPr name="TextBox 49" id="49"/>
          <p:cNvSpPr txBox="true"/>
          <p:nvPr/>
        </p:nvSpPr>
        <p:spPr>
          <a:xfrm rot="0">
            <a:off x="13837845" y="4070729"/>
            <a:ext cx="1578549"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525863"/>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4191922"/>
            <a:ext cx="7514069" cy="854234"/>
          </a:xfrm>
          <a:prstGeom prst="rect">
            <a:avLst/>
          </a:prstGeom>
        </p:spPr>
        <p:txBody>
          <a:bodyPr anchor="t" rtlCol="false" tIns="0" lIns="0" bIns="0" rIns="0">
            <a:spAutoFit/>
          </a:bodyPr>
          <a:lstStyle/>
          <a:p>
            <a:pPr algn="just"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INTERACTIVE SALES PERFORMANCE DASHBOARD WITH KPIS &amp; TREND ANALYSIS</a:t>
            </a:r>
          </a:p>
        </p:txBody>
      </p:sp>
      <p:sp>
        <p:nvSpPr>
          <p:cNvPr name="Freeform 6" id="6"/>
          <p:cNvSpPr/>
          <p:nvPr/>
        </p:nvSpPr>
        <p:spPr>
          <a:xfrm flipH="false" flipV="false" rot="-8687136">
            <a:off x="4577987" y="4654787"/>
            <a:ext cx="189150" cy="228643"/>
          </a:xfrm>
          <a:custGeom>
            <a:avLst/>
            <a:gdLst/>
            <a:ahLst/>
            <a:cxnLst/>
            <a:rect r="r" b="b" t="t" l="l"/>
            <a:pathLst>
              <a:path h="228643" w="189150">
                <a:moveTo>
                  <a:pt x="0" y="0"/>
                </a:moveTo>
                <a:lnTo>
                  <a:pt x="189150" y="0"/>
                </a:lnTo>
                <a:lnTo>
                  <a:pt x="189150" y="228643"/>
                </a:lnTo>
                <a:lnTo>
                  <a:pt x="0" y="2286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692815" y="129"/>
            <a:ext cx="1849954" cy="1848037"/>
            <a:chOff x="0" y="0"/>
            <a:chExt cx="2466605" cy="2464050"/>
          </a:xfrm>
        </p:grpSpPr>
        <p:grpSp>
          <p:nvGrpSpPr>
            <p:cNvPr name="Group 8" id="8"/>
            <p:cNvGrpSpPr/>
            <p:nvPr/>
          </p:nvGrpSpPr>
          <p:grpSpPr>
            <a:xfrm rot="0">
              <a:off x="0" y="0"/>
              <a:ext cx="2466605" cy="2464050"/>
              <a:chOff x="0" y="0"/>
              <a:chExt cx="787566" cy="786750"/>
            </a:xfrm>
          </p:grpSpPr>
          <p:sp>
            <p:nvSpPr>
              <p:cNvPr name="Freeform 9" id="9"/>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0" id="10"/>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05</a:t>
              </a:r>
            </a:p>
          </p:txBody>
        </p:sp>
      </p:grpSp>
      <p:grpSp>
        <p:nvGrpSpPr>
          <p:cNvPr name="Group 12" id="12"/>
          <p:cNvGrpSpPr/>
          <p:nvPr/>
        </p:nvGrpSpPr>
        <p:grpSpPr>
          <a:xfrm rot="0">
            <a:off x="10630940" y="0"/>
            <a:ext cx="7451928" cy="10287000"/>
            <a:chOff x="0" y="0"/>
            <a:chExt cx="9935904" cy="13716000"/>
          </a:xfrm>
        </p:grpSpPr>
        <p:grpSp>
          <p:nvGrpSpPr>
            <p:cNvPr name="Group 13" id="13"/>
            <p:cNvGrpSpPr/>
            <p:nvPr/>
          </p:nvGrpSpPr>
          <p:grpSpPr>
            <a:xfrm rot="0">
              <a:off x="0" y="0"/>
              <a:ext cx="9634280" cy="13716000"/>
              <a:chOff x="0" y="0"/>
              <a:chExt cx="1119452" cy="1593725"/>
            </a:xfrm>
          </p:grpSpPr>
          <p:sp>
            <p:nvSpPr>
              <p:cNvPr name="Freeform 14" id="14"/>
              <p:cNvSpPr/>
              <p:nvPr/>
            </p:nvSpPr>
            <p:spPr>
              <a:xfrm flipH="false" flipV="false" rot="0">
                <a:off x="0" y="0"/>
                <a:ext cx="1119452" cy="1593725"/>
              </a:xfrm>
              <a:custGeom>
                <a:avLst/>
                <a:gdLst/>
                <a:ahLst/>
                <a:cxnLst/>
                <a:rect r="r" b="b" t="t" l="l"/>
                <a:pathLst>
                  <a:path h="1593725" w="1119452">
                    <a:moveTo>
                      <a:pt x="0" y="0"/>
                    </a:moveTo>
                    <a:lnTo>
                      <a:pt x="1119452" y="0"/>
                    </a:lnTo>
                    <a:lnTo>
                      <a:pt x="1119452" y="1593725"/>
                    </a:lnTo>
                    <a:lnTo>
                      <a:pt x="0" y="1593725"/>
                    </a:lnTo>
                    <a:close/>
                  </a:path>
                </a:pathLst>
              </a:custGeom>
              <a:blipFill>
                <a:blip r:embed="rId4"/>
                <a:stretch>
                  <a:fillRect l="0" t="-172" r="0" b="-172"/>
                </a:stretch>
              </a:blipFill>
            </p:spPr>
          </p:sp>
        </p:grpSp>
        <p:sp>
          <p:nvSpPr>
            <p:cNvPr name="AutoShape 15" id="15"/>
            <p:cNvSpPr/>
            <p:nvPr/>
          </p:nvSpPr>
          <p:spPr>
            <a:xfrm>
              <a:off x="9923204" y="0"/>
              <a:ext cx="0" cy="13716000"/>
            </a:xfrm>
            <a:prstGeom prst="line">
              <a:avLst/>
            </a:prstGeom>
            <a:ln cap="rnd" w="25400">
              <a:solidFill>
                <a:srgbClr val="3A58E4"/>
              </a:solidFill>
              <a:prstDash val="solid"/>
              <a:headEnd type="none" len="sm" w="sm"/>
              <a:tailEnd type="none" len="sm" w="sm"/>
            </a:ln>
          </p:spPr>
        </p:sp>
      </p:grpSp>
      <p:sp>
        <p:nvSpPr>
          <p:cNvPr name="TextBox 16" id="16"/>
          <p:cNvSpPr txBox="true"/>
          <p:nvPr/>
        </p:nvSpPr>
        <p:spPr>
          <a:xfrm rot="0">
            <a:off x="1256766" y="1406218"/>
            <a:ext cx="5780387" cy="2489701"/>
          </a:xfrm>
          <a:prstGeom prst="rect">
            <a:avLst/>
          </a:prstGeom>
        </p:spPr>
        <p:txBody>
          <a:bodyPr anchor="t" rtlCol="false" tIns="0" lIns="0" bIns="0" rIns="0">
            <a:spAutoFit/>
          </a:bodyPr>
          <a:lstStyle/>
          <a:p>
            <a:pPr algn="l"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Power BI</a:t>
            </a:r>
          </a:p>
          <a:p>
            <a:pPr algn="l"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Dashboard</a:t>
            </a:r>
          </a:p>
        </p:txBody>
      </p:sp>
      <p:sp>
        <p:nvSpPr>
          <p:cNvPr name="TextBox 17" id="17"/>
          <p:cNvSpPr txBox="true"/>
          <p:nvPr/>
        </p:nvSpPr>
        <p:spPr>
          <a:xfrm rot="0">
            <a:off x="1028700" y="5866527"/>
            <a:ext cx="7514069" cy="3009444"/>
          </a:xfrm>
          <a:prstGeom prst="rect">
            <a:avLst/>
          </a:prstGeom>
        </p:spPr>
        <p:txBody>
          <a:bodyPr anchor="t" rtlCol="false" tIns="0" lIns="0" bIns="0" rIns="0">
            <a:spAutoFit/>
          </a:bodyPr>
          <a:lstStyle/>
          <a:p>
            <a:pPr algn="just" marL="0" indent="0" lvl="0">
              <a:lnSpc>
                <a:spcPts val="2650"/>
              </a:lnSpc>
            </a:pPr>
            <a:r>
              <a:rPr lang="en-US" sz="1892" spc="-5">
                <a:solidFill>
                  <a:srgbClr val="3A58E4"/>
                </a:solidFill>
                <a:latin typeface="Poppins"/>
                <a:ea typeface="Poppins"/>
                <a:cs typeface="Poppins"/>
                <a:sym typeface="Poppins"/>
              </a:rPr>
              <a:t>The Power BI dashboard provides an interactive overview of footwear sales performance using key business metrics such as total revenue, units sold, average selling price, and total sales. It includes visualizations for revenue by country, brand, shoe type, sales channel, and price band, enabling users to identify sales trends and top-performing categories. Interactive slicers for month, country, brand, shoe type, and sales channel allow users to filter the data dynamically and explore insights from different business perspectives.</a:t>
            </a:r>
          </a:p>
        </p:txBody>
      </p:sp>
      <p:sp>
        <p:nvSpPr>
          <p:cNvPr name="Freeform 18" id="18"/>
          <p:cNvSpPr/>
          <p:nvPr/>
        </p:nvSpPr>
        <p:spPr>
          <a:xfrm flipH="false" flipV="false" rot="0">
            <a:off x="9455662" y="7848788"/>
            <a:ext cx="2479908" cy="482455"/>
          </a:xfrm>
          <a:custGeom>
            <a:avLst/>
            <a:gdLst/>
            <a:ahLst/>
            <a:cxnLst/>
            <a:rect r="r" b="b" t="t" l="l"/>
            <a:pathLst>
              <a:path h="482455" w="2479908">
                <a:moveTo>
                  <a:pt x="0" y="0"/>
                </a:moveTo>
                <a:lnTo>
                  <a:pt x="2479908" y="0"/>
                </a:lnTo>
                <a:lnTo>
                  <a:pt x="2479908" y="482455"/>
                </a:lnTo>
                <a:lnTo>
                  <a:pt x="0" y="482455"/>
                </a:lnTo>
                <a:lnTo>
                  <a:pt x="0" y="0"/>
                </a:lnTo>
                <a:close/>
              </a:path>
            </a:pathLst>
          </a:custGeom>
          <a:blipFill>
            <a:blip r:embed="rId5"/>
            <a:stretch>
              <a:fillRect l="0" t="0" r="0" b="0"/>
            </a:stretch>
          </a:blipFill>
        </p:spPr>
      </p:sp>
      <p:grpSp>
        <p:nvGrpSpPr>
          <p:cNvPr name="Group 19" id="19"/>
          <p:cNvGrpSpPr/>
          <p:nvPr/>
        </p:nvGrpSpPr>
        <p:grpSpPr>
          <a:xfrm rot="0">
            <a:off x="9545918" y="5831999"/>
            <a:ext cx="2270445" cy="2267600"/>
            <a:chOff x="0" y="0"/>
            <a:chExt cx="567580" cy="566868"/>
          </a:xfrm>
        </p:grpSpPr>
        <p:sp>
          <p:nvSpPr>
            <p:cNvPr name="Freeform 20" id="20"/>
            <p:cNvSpPr/>
            <p:nvPr/>
          </p:nvSpPr>
          <p:spPr>
            <a:xfrm flipH="false" flipV="false" rot="0">
              <a:off x="0" y="0"/>
              <a:ext cx="567580" cy="566868"/>
            </a:xfrm>
            <a:custGeom>
              <a:avLst/>
              <a:gdLst/>
              <a:ahLst/>
              <a:cxnLst/>
              <a:rect r="r" b="b" t="t" l="l"/>
              <a:pathLst>
                <a:path h="566868" w="567580">
                  <a:moveTo>
                    <a:pt x="153444" y="0"/>
                  </a:moveTo>
                  <a:lnTo>
                    <a:pt x="414136" y="0"/>
                  </a:lnTo>
                  <a:cubicBezTo>
                    <a:pt x="498880" y="0"/>
                    <a:pt x="567580" y="68699"/>
                    <a:pt x="567580" y="153444"/>
                  </a:cubicBezTo>
                  <a:lnTo>
                    <a:pt x="567580" y="413424"/>
                  </a:lnTo>
                  <a:cubicBezTo>
                    <a:pt x="567580" y="454120"/>
                    <a:pt x="551413" y="493149"/>
                    <a:pt x="522637" y="521926"/>
                  </a:cubicBezTo>
                  <a:cubicBezTo>
                    <a:pt x="493861" y="550702"/>
                    <a:pt x="454831" y="566868"/>
                    <a:pt x="414136" y="566868"/>
                  </a:cubicBezTo>
                  <a:lnTo>
                    <a:pt x="153444" y="566868"/>
                  </a:lnTo>
                  <a:cubicBezTo>
                    <a:pt x="112748" y="566868"/>
                    <a:pt x="73719" y="550702"/>
                    <a:pt x="44943" y="521926"/>
                  </a:cubicBezTo>
                  <a:cubicBezTo>
                    <a:pt x="16166" y="493149"/>
                    <a:pt x="0" y="454120"/>
                    <a:pt x="0" y="413424"/>
                  </a:cubicBezTo>
                  <a:lnTo>
                    <a:pt x="0" y="153444"/>
                  </a:lnTo>
                  <a:cubicBezTo>
                    <a:pt x="0" y="112748"/>
                    <a:pt x="16166" y="73719"/>
                    <a:pt x="44943" y="44943"/>
                  </a:cubicBezTo>
                  <a:cubicBezTo>
                    <a:pt x="73719" y="16166"/>
                    <a:pt x="112748" y="0"/>
                    <a:pt x="153444"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21" id="21"/>
            <p:cNvSpPr txBox="true"/>
            <p:nvPr/>
          </p:nvSpPr>
          <p:spPr>
            <a:xfrm>
              <a:off x="0" y="28575"/>
              <a:ext cx="567580" cy="538293"/>
            </a:xfrm>
            <a:prstGeom prst="rect">
              <a:avLst/>
            </a:prstGeom>
          </p:spPr>
          <p:txBody>
            <a:bodyPr anchor="ctr" rtlCol="false" tIns="51111" lIns="51111" bIns="51111" rIns="51111"/>
            <a:lstStyle/>
            <a:p>
              <a:pPr algn="ctr" marL="0" indent="0" lvl="0">
                <a:lnSpc>
                  <a:spcPts val="2460"/>
                </a:lnSpc>
              </a:pPr>
            </a:p>
          </p:txBody>
        </p:sp>
      </p:grpSp>
      <p:sp>
        <p:nvSpPr>
          <p:cNvPr name="TextBox 22" id="22"/>
          <p:cNvSpPr txBox="true"/>
          <p:nvPr/>
        </p:nvSpPr>
        <p:spPr>
          <a:xfrm rot="0">
            <a:off x="9805709" y="6448819"/>
            <a:ext cx="1779815" cy="516979"/>
          </a:xfrm>
          <a:prstGeom prst="rect">
            <a:avLst/>
          </a:prstGeom>
        </p:spPr>
        <p:txBody>
          <a:bodyPr anchor="t" rtlCol="false" tIns="0" lIns="0" bIns="0" rIns="0">
            <a:spAutoFit/>
          </a:bodyPr>
          <a:lstStyle/>
          <a:p>
            <a:pPr algn="ctr" marL="0" indent="0" lvl="0">
              <a:lnSpc>
                <a:spcPts val="3876"/>
              </a:lnSpc>
            </a:pPr>
            <a:r>
              <a:rPr lang="en-US" b="true" sz="3915" spc="-117">
                <a:solidFill>
                  <a:srgbClr val="FFFFFF"/>
                </a:solidFill>
                <a:latin typeface="Bricolage Grotesque Bold"/>
                <a:ea typeface="Bricolage Grotesque Bold"/>
                <a:cs typeface="Bricolage Grotesque Bold"/>
                <a:sym typeface="Bricolage Grotesque Bold"/>
              </a:rPr>
              <a:t>Rs 1.5 M</a:t>
            </a:r>
          </a:p>
        </p:txBody>
      </p:sp>
      <p:sp>
        <p:nvSpPr>
          <p:cNvPr name="TextBox 23" id="23"/>
          <p:cNvSpPr txBox="true"/>
          <p:nvPr/>
        </p:nvSpPr>
        <p:spPr>
          <a:xfrm rot="0">
            <a:off x="10056286" y="7193472"/>
            <a:ext cx="1278661" cy="466084"/>
          </a:xfrm>
          <a:prstGeom prst="rect">
            <a:avLst/>
          </a:prstGeom>
        </p:spPr>
        <p:txBody>
          <a:bodyPr anchor="t" rtlCol="false" tIns="0" lIns="0" bIns="0" rIns="0">
            <a:spAutoFit/>
          </a:bodyPr>
          <a:lstStyle/>
          <a:p>
            <a:pPr algn="ctr" marL="0" indent="0" lvl="0">
              <a:lnSpc>
                <a:spcPts val="1889"/>
              </a:lnSpc>
            </a:pPr>
            <a:r>
              <a:rPr lang="en-US" sz="1349" spc="-33">
                <a:solidFill>
                  <a:srgbClr val="FFFFFF"/>
                </a:solidFill>
                <a:latin typeface="Poppins"/>
                <a:ea typeface="Poppins"/>
                <a:cs typeface="Poppins"/>
                <a:sym typeface="Poppins"/>
              </a:rPr>
              <a:t>TOTAL REVENUE</a:t>
            </a:r>
          </a:p>
          <a:p>
            <a:pPr algn="ctr" marL="0" indent="0" lvl="0">
              <a:lnSpc>
                <a:spcPts val="1889"/>
              </a:lnSpc>
            </a:pPr>
            <a:r>
              <a:rPr lang="en-US" sz="1349" spc="-33">
                <a:solidFill>
                  <a:srgbClr val="FFFFFF"/>
                </a:solidFill>
                <a:latin typeface="Poppins"/>
                <a:ea typeface="Poppins"/>
                <a:cs typeface="Poppins"/>
                <a:sym typeface="Poppins"/>
              </a:rPr>
              <a:t>VISUALIZED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938179" cy="10287000"/>
            <a:chOff x="0" y="0"/>
            <a:chExt cx="1827339" cy="2709333"/>
          </a:xfrm>
        </p:grpSpPr>
        <p:sp>
          <p:nvSpPr>
            <p:cNvPr name="Freeform 3" id="3"/>
            <p:cNvSpPr/>
            <p:nvPr/>
          </p:nvSpPr>
          <p:spPr>
            <a:xfrm flipH="false" flipV="false" rot="0">
              <a:off x="0" y="0"/>
              <a:ext cx="1827339" cy="2709333"/>
            </a:xfrm>
            <a:custGeom>
              <a:avLst/>
              <a:gdLst/>
              <a:ahLst/>
              <a:cxnLst/>
              <a:rect r="r" b="b" t="t" l="l"/>
              <a:pathLst>
                <a:path h="2709333" w="1827339">
                  <a:moveTo>
                    <a:pt x="0" y="0"/>
                  </a:moveTo>
                  <a:lnTo>
                    <a:pt x="1827339" y="0"/>
                  </a:lnTo>
                  <a:lnTo>
                    <a:pt x="1827339"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827339"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5343219" y="4032536"/>
            <a:ext cx="3189919" cy="620584"/>
          </a:xfrm>
          <a:custGeom>
            <a:avLst/>
            <a:gdLst/>
            <a:ahLst/>
            <a:cxnLst/>
            <a:rect r="r" b="b" t="t" l="l"/>
            <a:pathLst>
              <a:path h="620584" w="3189919">
                <a:moveTo>
                  <a:pt x="0" y="0"/>
                </a:moveTo>
                <a:lnTo>
                  <a:pt x="3189919" y="0"/>
                </a:lnTo>
                <a:lnTo>
                  <a:pt x="3189919" y="620584"/>
                </a:lnTo>
                <a:lnTo>
                  <a:pt x="0" y="620584"/>
                </a:lnTo>
                <a:lnTo>
                  <a:pt x="0" y="0"/>
                </a:lnTo>
                <a:close/>
              </a:path>
            </a:pathLst>
          </a:custGeom>
          <a:blipFill>
            <a:blip r:embed="rId2"/>
            <a:stretch>
              <a:fillRect l="0" t="0" r="0" b="0"/>
            </a:stretch>
          </a:blipFill>
        </p:spPr>
      </p:sp>
      <p:grpSp>
        <p:nvGrpSpPr>
          <p:cNvPr name="Group 6" id="6"/>
          <p:cNvGrpSpPr/>
          <p:nvPr/>
        </p:nvGrpSpPr>
        <p:grpSpPr>
          <a:xfrm rot="0">
            <a:off x="5459316" y="1438329"/>
            <a:ext cx="2920486" cy="2916826"/>
            <a:chOff x="0" y="0"/>
            <a:chExt cx="567580" cy="566868"/>
          </a:xfrm>
        </p:grpSpPr>
        <p:sp>
          <p:nvSpPr>
            <p:cNvPr name="Freeform 7" id="7"/>
            <p:cNvSpPr/>
            <p:nvPr/>
          </p:nvSpPr>
          <p:spPr>
            <a:xfrm flipH="false" flipV="false" rot="0">
              <a:off x="0" y="0"/>
              <a:ext cx="567580" cy="566868"/>
            </a:xfrm>
            <a:custGeom>
              <a:avLst/>
              <a:gdLst/>
              <a:ahLst/>
              <a:cxnLst/>
              <a:rect r="r" b="b" t="t" l="l"/>
              <a:pathLst>
                <a:path h="566868" w="567580">
                  <a:moveTo>
                    <a:pt x="119291" y="0"/>
                  </a:moveTo>
                  <a:lnTo>
                    <a:pt x="448289" y="0"/>
                  </a:lnTo>
                  <a:cubicBezTo>
                    <a:pt x="514171" y="0"/>
                    <a:pt x="567580" y="53408"/>
                    <a:pt x="567580" y="119291"/>
                  </a:cubicBezTo>
                  <a:lnTo>
                    <a:pt x="567580" y="447578"/>
                  </a:lnTo>
                  <a:cubicBezTo>
                    <a:pt x="567580" y="479216"/>
                    <a:pt x="555012" y="509558"/>
                    <a:pt x="532640" y="531929"/>
                  </a:cubicBezTo>
                  <a:cubicBezTo>
                    <a:pt x="510269" y="554300"/>
                    <a:pt x="479927" y="566868"/>
                    <a:pt x="448289" y="566868"/>
                  </a:cubicBezTo>
                  <a:lnTo>
                    <a:pt x="119291" y="566868"/>
                  </a:lnTo>
                  <a:cubicBezTo>
                    <a:pt x="87653" y="566868"/>
                    <a:pt x="57311" y="554300"/>
                    <a:pt x="34939" y="531929"/>
                  </a:cubicBezTo>
                  <a:cubicBezTo>
                    <a:pt x="12568" y="509558"/>
                    <a:pt x="0" y="479216"/>
                    <a:pt x="0" y="447578"/>
                  </a:cubicBezTo>
                  <a:lnTo>
                    <a:pt x="0" y="119291"/>
                  </a:lnTo>
                  <a:cubicBezTo>
                    <a:pt x="0" y="53408"/>
                    <a:pt x="53408" y="0"/>
                    <a:pt x="11929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8" id="8"/>
            <p:cNvSpPr txBox="true"/>
            <p:nvPr/>
          </p:nvSpPr>
          <p:spPr>
            <a:xfrm>
              <a:off x="0" y="28575"/>
              <a:ext cx="567580" cy="538293"/>
            </a:xfrm>
            <a:prstGeom prst="rect">
              <a:avLst/>
            </a:prstGeom>
          </p:spPr>
          <p:txBody>
            <a:bodyPr anchor="ctr" rtlCol="false" tIns="65745" lIns="65745" bIns="65745" rIns="65745"/>
            <a:lstStyle/>
            <a:p>
              <a:pPr algn="ctr" marL="0" indent="0" lvl="0">
                <a:lnSpc>
                  <a:spcPts val="2460"/>
                </a:lnSpc>
              </a:pPr>
            </a:p>
          </p:txBody>
        </p:sp>
      </p:grpSp>
      <p:sp>
        <p:nvSpPr>
          <p:cNvPr name="TextBox 9" id="9"/>
          <p:cNvSpPr txBox="true"/>
          <p:nvPr/>
        </p:nvSpPr>
        <p:spPr>
          <a:xfrm rot="0">
            <a:off x="5708475" y="2199673"/>
            <a:ext cx="2459408" cy="834377"/>
          </a:xfrm>
          <a:prstGeom prst="rect">
            <a:avLst/>
          </a:prstGeom>
        </p:spPr>
        <p:txBody>
          <a:bodyPr anchor="t" rtlCol="false" tIns="0" lIns="0" bIns="0" rIns="0">
            <a:spAutoFit/>
          </a:bodyPr>
          <a:lstStyle/>
          <a:p>
            <a:pPr algn="ctr" marL="0" indent="0" lvl="0">
              <a:lnSpc>
                <a:spcPts val="6222"/>
              </a:lnSpc>
            </a:pPr>
            <a:r>
              <a:rPr lang="en-US" b="true" sz="6285" spc="-188">
                <a:solidFill>
                  <a:srgbClr val="FFFFFF"/>
                </a:solidFill>
                <a:latin typeface="Bricolage Grotesque Bold"/>
                <a:ea typeface="Bricolage Grotesque Bold"/>
                <a:cs typeface="Bricolage Grotesque Bold"/>
                <a:sym typeface="Bricolage Grotesque Bold"/>
              </a:rPr>
              <a:t>10k+</a:t>
            </a:r>
          </a:p>
        </p:txBody>
      </p:sp>
      <p:sp>
        <p:nvSpPr>
          <p:cNvPr name="TextBox 10" id="10"/>
          <p:cNvSpPr txBox="true"/>
          <p:nvPr/>
        </p:nvSpPr>
        <p:spPr>
          <a:xfrm rot="0">
            <a:off x="5940959" y="3300612"/>
            <a:ext cx="1957200" cy="407499"/>
          </a:xfrm>
          <a:prstGeom prst="rect">
            <a:avLst/>
          </a:prstGeom>
        </p:spPr>
        <p:txBody>
          <a:bodyPr anchor="t" rtlCol="false" tIns="0" lIns="0" bIns="0" rIns="0">
            <a:spAutoFit/>
          </a:bodyPr>
          <a:lstStyle/>
          <a:p>
            <a:pPr algn="ctr" marL="0" indent="0" lvl="0">
              <a:lnSpc>
                <a:spcPts val="3264"/>
              </a:lnSpc>
            </a:pPr>
            <a:r>
              <a:rPr lang="en-US" sz="2331" spc="-58">
                <a:solidFill>
                  <a:srgbClr val="FFFFFF"/>
                </a:solidFill>
                <a:latin typeface="Poppins"/>
                <a:ea typeface="Poppins"/>
                <a:cs typeface="Poppins"/>
                <a:sym typeface="Poppins"/>
              </a:rPr>
              <a:t>UNITS SOLD</a:t>
            </a:r>
          </a:p>
        </p:txBody>
      </p:sp>
      <p:sp>
        <p:nvSpPr>
          <p:cNvPr name="Freeform 11" id="11"/>
          <p:cNvSpPr/>
          <p:nvPr/>
        </p:nvSpPr>
        <p:spPr>
          <a:xfrm flipH="false" flipV="false" rot="0">
            <a:off x="972685" y="4004410"/>
            <a:ext cx="1043213" cy="1061475"/>
          </a:xfrm>
          <a:custGeom>
            <a:avLst/>
            <a:gdLst/>
            <a:ahLst/>
            <a:cxnLst/>
            <a:rect r="r" b="b" t="t" l="l"/>
            <a:pathLst>
              <a:path h="1061475" w="1043213">
                <a:moveTo>
                  <a:pt x="0" y="0"/>
                </a:moveTo>
                <a:lnTo>
                  <a:pt x="1043213" y="0"/>
                </a:lnTo>
                <a:lnTo>
                  <a:pt x="1043213" y="1061475"/>
                </a:lnTo>
                <a:lnTo>
                  <a:pt x="0" y="1061475"/>
                </a:lnTo>
                <a:lnTo>
                  <a:pt x="0" y="0"/>
                </a:lnTo>
                <a:close/>
              </a:path>
            </a:pathLst>
          </a:custGeom>
          <a:blipFill>
            <a:blip r:embed="rId3"/>
            <a:stretch>
              <a:fillRect l="0" t="0" r="0" b="0"/>
            </a:stretch>
          </a:blipFill>
        </p:spPr>
      </p:sp>
      <p:sp>
        <p:nvSpPr>
          <p:cNvPr name="TextBox 12" id="12"/>
          <p:cNvSpPr txBox="true"/>
          <p:nvPr/>
        </p:nvSpPr>
        <p:spPr>
          <a:xfrm rot="0">
            <a:off x="1028700" y="5540993"/>
            <a:ext cx="4378886" cy="475196"/>
          </a:xfrm>
          <a:prstGeom prst="rect">
            <a:avLst/>
          </a:prstGeom>
        </p:spPr>
        <p:txBody>
          <a:bodyPr anchor="t" rtlCol="false" tIns="0" lIns="0" bIns="0" rIns="0">
            <a:spAutoFit/>
          </a:bodyPr>
          <a:lstStyle/>
          <a:p>
            <a:pPr algn="l" marL="0" indent="0" lvl="0">
              <a:lnSpc>
                <a:spcPts val="4135"/>
              </a:lnSpc>
            </a:pPr>
            <a:r>
              <a:rPr lang="en-US" b="true" sz="1914">
                <a:solidFill>
                  <a:srgbClr val="FFFFFF"/>
                </a:solidFill>
                <a:latin typeface="Poppins Bold"/>
                <a:ea typeface="Poppins Bold"/>
                <a:cs typeface="Poppins Bold"/>
                <a:sym typeface="Poppins Bold"/>
              </a:rPr>
              <a:t>REVENUE TRENDS</a:t>
            </a:r>
          </a:p>
        </p:txBody>
      </p:sp>
      <p:sp>
        <p:nvSpPr>
          <p:cNvPr name="TextBox 13" id="13"/>
          <p:cNvSpPr txBox="true"/>
          <p:nvPr/>
        </p:nvSpPr>
        <p:spPr>
          <a:xfrm rot="0">
            <a:off x="1028700" y="6143299"/>
            <a:ext cx="4378886" cy="498860"/>
          </a:xfrm>
          <a:prstGeom prst="rect">
            <a:avLst/>
          </a:prstGeom>
        </p:spPr>
        <p:txBody>
          <a:bodyPr anchor="t" rtlCol="false" tIns="0" lIns="0" bIns="0" rIns="0">
            <a:spAutoFit/>
          </a:bodyPr>
          <a:lstStyle/>
          <a:p>
            <a:pPr algn="just" marL="0" indent="0" lvl="0">
              <a:lnSpc>
                <a:spcPts val="1987"/>
              </a:lnSpc>
            </a:pPr>
            <a:r>
              <a:rPr lang="en-US" sz="1629">
                <a:solidFill>
                  <a:srgbClr val="FFFFFF"/>
                </a:solidFill>
                <a:latin typeface="Poppins"/>
                <a:ea typeface="Poppins"/>
                <a:cs typeface="Poppins"/>
                <a:sym typeface="Poppins"/>
              </a:rPr>
              <a:t>Annual revenue rose 22% driven by  premium footwear segments.</a:t>
            </a:r>
          </a:p>
        </p:txBody>
      </p:sp>
      <p:grpSp>
        <p:nvGrpSpPr>
          <p:cNvPr name="Group 14" id="14"/>
          <p:cNvGrpSpPr/>
          <p:nvPr/>
        </p:nvGrpSpPr>
        <p:grpSpPr>
          <a:xfrm rot="0">
            <a:off x="1028700" y="7103380"/>
            <a:ext cx="4378886" cy="845330"/>
            <a:chOff x="0" y="0"/>
            <a:chExt cx="5838515" cy="1127107"/>
          </a:xfrm>
        </p:grpSpPr>
        <p:sp>
          <p:nvSpPr>
            <p:cNvPr name="TextBox 15" id="15"/>
            <p:cNvSpPr txBox="true"/>
            <p:nvPr/>
          </p:nvSpPr>
          <p:spPr>
            <a:xfrm rot="0">
              <a:off x="0" y="-190500"/>
              <a:ext cx="5838515" cy="570095"/>
            </a:xfrm>
            <a:prstGeom prst="rect">
              <a:avLst/>
            </a:prstGeom>
          </p:spPr>
          <p:txBody>
            <a:bodyPr anchor="t" rtlCol="false" tIns="0" lIns="0" bIns="0" rIns="0">
              <a:spAutoFit/>
            </a:bodyPr>
            <a:lstStyle/>
            <a:p>
              <a:pPr algn="l" marL="0" indent="0" lvl="0">
                <a:lnSpc>
                  <a:spcPts val="4135"/>
                </a:lnSpc>
              </a:pPr>
              <a:r>
                <a:rPr lang="en-US" b="true" sz="1914">
                  <a:solidFill>
                    <a:srgbClr val="FFFFFF"/>
                  </a:solidFill>
                  <a:latin typeface="Poppins Bold"/>
                  <a:ea typeface="Poppins Bold"/>
                  <a:cs typeface="Poppins Bold"/>
                  <a:sym typeface="Poppins Bold"/>
                </a:rPr>
                <a:t>TOP CATEGORIES</a:t>
              </a:r>
            </a:p>
          </p:txBody>
        </p:sp>
        <p:sp>
          <p:nvSpPr>
            <p:cNvPr name="TextBox 16" id="16"/>
            <p:cNvSpPr txBox="true"/>
            <p:nvPr/>
          </p:nvSpPr>
          <p:spPr>
            <a:xfrm rot="0">
              <a:off x="0" y="465135"/>
              <a:ext cx="5838515" cy="661972"/>
            </a:xfrm>
            <a:prstGeom prst="rect">
              <a:avLst/>
            </a:prstGeom>
          </p:spPr>
          <p:txBody>
            <a:bodyPr anchor="t" rtlCol="false" tIns="0" lIns="0" bIns="0" rIns="0">
              <a:spAutoFit/>
            </a:bodyPr>
            <a:lstStyle/>
            <a:p>
              <a:pPr algn="just" marL="0" indent="0" lvl="0">
                <a:lnSpc>
                  <a:spcPts val="1987"/>
                </a:lnSpc>
              </a:pPr>
              <a:r>
                <a:rPr lang="en-US" sz="1629">
                  <a:solidFill>
                    <a:srgbClr val="FFFFFF"/>
                  </a:solidFill>
                  <a:latin typeface="Poppins"/>
                  <a:ea typeface="Poppins"/>
                  <a:cs typeface="Poppins"/>
                  <a:sym typeface="Poppins"/>
                </a:rPr>
                <a:t>Sneakers accounts for the highest revenue and sales </a:t>
              </a:r>
            </a:p>
          </p:txBody>
        </p:sp>
      </p:grpSp>
      <p:grpSp>
        <p:nvGrpSpPr>
          <p:cNvPr name="Group 17" id="17"/>
          <p:cNvGrpSpPr/>
          <p:nvPr/>
        </p:nvGrpSpPr>
        <p:grpSpPr>
          <a:xfrm rot="0">
            <a:off x="1028700" y="8412970"/>
            <a:ext cx="4378886" cy="845330"/>
            <a:chOff x="0" y="0"/>
            <a:chExt cx="5838515" cy="1127107"/>
          </a:xfrm>
        </p:grpSpPr>
        <p:sp>
          <p:nvSpPr>
            <p:cNvPr name="TextBox 18" id="18"/>
            <p:cNvSpPr txBox="true"/>
            <p:nvPr/>
          </p:nvSpPr>
          <p:spPr>
            <a:xfrm rot="0">
              <a:off x="0" y="-190500"/>
              <a:ext cx="5838515" cy="570095"/>
            </a:xfrm>
            <a:prstGeom prst="rect">
              <a:avLst/>
            </a:prstGeom>
          </p:spPr>
          <p:txBody>
            <a:bodyPr anchor="t" rtlCol="false" tIns="0" lIns="0" bIns="0" rIns="0">
              <a:spAutoFit/>
            </a:bodyPr>
            <a:lstStyle/>
            <a:p>
              <a:pPr algn="l" marL="0" indent="0" lvl="0">
                <a:lnSpc>
                  <a:spcPts val="4135"/>
                </a:lnSpc>
              </a:pPr>
              <a:r>
                <a:rPr lang="en-US" b="true" sz="1914">
                  <a:solidFill>
                    <a:srgbClr val="FFFFFF"/>
                  </a:solidFill>
                  <a:latin typeface="Poppins Bold"/>
                  <a:ea typeface="Poppins Bold"/>
                  <a:cs typeface="Poppins Bold"/>
                  <a:sym typeface="Poppins Bold"/>
                </a:rPr>
                <a:t>REGIONAL DISTRIBUTION</a:t>
              </a:r>
            </a:p>
          </p:txBody>
        </p:sp>
        <p:sp>
          <p:nvSpPr>
            <p:cNvPr name="TextBox 19" id="19"/>
            <p:cNvSpPr txBox="true"/>
            <p:nvPr/>
          </p:nvSpPr>
          <p:spPr>
            <a:xfrm rot="0">
              <a:off x="0" y="465135"/>
              <a:ext cx="5838515" cy="661972"/>
            </a:xfrm>
            <a:prstGeom prst="rect">
              <a:avLst/>
            </a:prstGeom>
          </p:spPr>
          <p:txBody>
            <a:bodyPr anchor="t" rtlCol="false" tIns="0" lIns="0" bIns="0" rIns="0">
              <a:spAutoFit/>
            </a:bodyPr>
            <a:lstStyle/>
            <a:p>
              <a:pPr algn="just" marL="0" indent="0" lvl="0">
                <a:lnSpc>
                  <a:spcPts val="1987"/>
                </a:lnSpc>
              </a:pPr>
              <a:r>
                <a:rPr lang="en-US" sz="1629">
                  <a:solidFill>
                    <a:srgbClr val="FFFFFF"/>
                  </a:solidFill>
                  <a:latin typeface="Poppins"/>
                  <a:ea typeface="Poppins"/>
                  <a:cs typeface="Poppins"/>
                  <a:sym typeface="Poppins"/>
                </a:rPr>
                <a:t>UAE, US AND FRANCE accounts for the highest revenue generating countries.</a:t>
              </a:r>
            </a:p>
          </p:txBody>
        </p:sp>
      </p:grpSp>
      <p:grpSp>
        <p:nvGrpSpPr>
          <p:cNvPr name="Group 20" id="20"/>
          <p:cNvGrpSpPr/>
          <p:nvPr/>
        </p:nvGrpSpPr>
        <p:grpSpPr>
          <a:xfrm rot="0">
            <a:off x="9345491" y="1030080"/>
            <a:ext cx="7642667" cy="7093131"/>
            <a:chOff x="0" y="0"/>
            <a:chExt cx="10190223" cy="9457509"/>
          </a:xfrm>
        </p:grpSpPr>
        <p:sp>
          <p:nvSpPr>
            <p:cNvPr name="TextBox 21" id="21"/>
            <p:cNvSpPr txBox="true"/>
            <p:nvPr/>
          </p:nvSpPr>
          <p:spPr>
            <a:xfrm rot="0">
              <a:off x="1033544" y="-57150"/>
              <a:ext cx="9156679" cy="470655"/>
            </a:xfrm>
            <a:prstGeom prst="rect">
              <a:avLst/>
            </a:prstGeom>
          </p:spPr>
          <p:txBody>
            <a:bodyPr anchor="t" rtlCol="false" tIns="0" lIns="0" bIns="0" rIns="0">
              <a:spAutoFit/>
            </a:bodyPr>
            <a:lstStyle/>
            <a:p>
              <a:pPr algn="just" marL="0" indent="0" lvl="0">
                <a:lnSpc>
                  <a:spcPts val="2856"/>
                </a:lnSpc>
              </a:pPr>
              <a:r>
                <a:rPr lang="en-US" b="true" sz="2040" spc="-51">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RETAIL STORES GENERATED THE HIGHEST REVENUE</a:t>
              </a:r>
            </a:p>
          </p:txBody>
        </p:sp>
        <p:sp>
          <p:nvSpPr>
            <p:cNvPr name="TextBox 22" id="22"/>
            <p:cNvSpPr txBox="true"/>
            <p:nvPr/>
          </p:nvSpPr>
          <p:spPr>
            <a:xfrm rot="0">
              <a:off x="1033544" y="656845"/>
              <a:ext cx="8996329" cy="2584950"/>
            </a:xfrm>
            <a:prstGeom prst="rect">
              <a:avLst/>
            </a:prstGeom>
          </p:spPr>
          <p:txBody>
            <a:bodyPr anchor="t" rtlCol="false" tIns="0" lIns="0" bIns="0" rIns="0">
              <a:spAutoFit/>
            </a:bodyPr>
            <a:lstStyle/>
            <a:p>
              <a:pPr algn="l">
                <a:lnSpc>
                  <a:spcPts val="2604"/>
                </a:lnSpc>
              </a:pPr>
              <a:r>
                <a:rPr lang="en-US" sz="1860" spc="-46">
                  <a:solidFill>
                    <a:srgbClr val="3A58E4"/>
                  </a:solidFill>
                  <a:latin typeface="Poppins"/>
                  <a:ea typeface="Poppins"/>
                  <a:cs typeface="Poppins"/>
                  <a:sym typeface="Poppins"/>
                </a:rPr>
                <a:t>Th</a:t>
              </a:r>
              <a:r>
                <a:rPr lang="en-US" sz="1860" spc="-46">
                  <a:solidFill>
                    <a:srgbClr val="3A58E4"/>
                  </a:solidFill>
                  <a:latin typeface="Poppins"/>
                  <a:ea typeface="Poppins"/>
                  <a:cs typeface="Poppins"/>
                  <a:sym typeface="Poppins"/>
                </a:rPr>
                <a:t>e Retail Store channel contributed approximately ₹5.08 Lakhs, outperforming both Mall (₹4.79 Lakhs) and Online (₹4.68 Lakhs).</a:t>
              </a:r>
            </a:p>
            <a:p>
              <a:pPr algn="l">
                <a:lnSpc>
                  <a:spcPts val="2604"/>
                </a:lnSpc>
              </a:pPr>
              <a:r>
                <a:rPr lang="en-US" sz="1860" spc="-46">
                  <a:solidFill>
                    <a:srgbClr val="3A58E4"/>
                  </a:solidFill>
                  <a:latin typeface="Poppins"/>
                  <a:ea typeface="Poppins"/>
                  <a:cs typeface="Poppins"/>
                  <a:sym typeface="Poppins"/>
                </a:rPr>
                <a:t>This suggests that physical retail stores remain the strongest sales channel in terms of revenue</a:t>
              </a:r>
            </a:p>
            <a:p>
              <a:pPr algn="l">
                <a:lnSpc>
                  <a:spcPts val="2604"/>
                </a:lnSpc>
              </a:pPr>
            </a:p>
          </p:txBody>
        </p:sp>
        <p:sp>
          <p:nvSpPr>
            <p:cNvPr name="TextBox 23" id="23"/>
            <p:cNvSpPr txBox="true"/>
            <p:nvPr/>
          </p:nvSpPr>
          <p:spPr>
            <a:xfrm rot="0">
              <a:off x="1033544" y="3485135"/>
              <a:ext cx="6487354" cy="953255"/>
            </a:xfrm>
            <a:prstGeom prst="rect">
              <a:avLst/>
            </a:prstGeom>
          </p:spPr>
          <p:txBody>
            <a:bodyPr anchor="t" rtlCol="false" tIns="0" lIns="0" bIns="0" rIns="0">
              <a:spAutoFit/>
            </a:bodyPr>
            <a:lstStyle/>
            <a:p>
              <a:pPr algn="just" marL="0" indent="0" lvl="0">
                <a:lnSpc>
                  <a:spcPts val="2856"/>
                </a:lnSpc>
              </a:pPr>
              <a:r>
                <a:rPr lang="en-US" b="true" sz="2040" spc="-51">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REVENU</a:t>
              </a:r>
              <a:r>
                <a:rPr lang="en-US" b="true" sz="2040" spc="-51">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E REMAINED RELATIVELY STABLE THROUGHOUT THE YEAR</a:t>
              </a:r>
            </a:p>
          </p:txBody>
        </p:sp>
        <p:sp>
          <p:nvSpPr>
            <p:cNvPr name="TextBox 24" id="24"/>
            <p:cNvSpPr txBox="true"/>
            <p:nvPr/>
          </p:nvSpPr>
          <p:spPr>
            <a:xfrm rot="0">
              <a:off x="1033544" y="4834194"/>
              <a:ext cx="8996329" cy="2153150"/>
            </a:xfrm>
            <a:prstGeom prst="rect">
              <a:avLst/>
            </a:prstGeom>
          </p:spPr>
          <p:txBody>
            <a:bodyPr anchor="t" rtlCol="false" tIns="0" lIns="0" bIns="0" rIns="0">
              <a:spAutoFit/>
            </a:bodyPr>
            <a:lstStyle/>
            <a:p>
              <a:pPr algn="l">
                <a:lnSpc>
                  <a:spcPts val="2604"/>
                </a:lnSpc>
              </a:pPr>
              <a:r>
                <a:rPr lang="en-US" sz="1860" spc="-46">
                  <a:solidFill>
                    <a:srgbClr val="3A58E4"/>
                  </a:solidFill>
                  <a:latin typeface="Poppins"/>
                  <a:ea typeface="Poppins"/>
                  <a:cs typeface="Poppins"/>
                  <a:sym typeface="Poppins"/>
                </a:rPr>
                <a:t>M</a:t>
              </a:r>
              <a:r>
                <a:rPr lang="en-US" sz="1860" spc="-46">
                  <a:solidFill>
                    <a:srgbClr val="3A58E4"/>
                  </a:solidFill>
                  <a:latin typeface="Poppins"/>
                  <a:ea typeface="Poppins"/>
                  <a:cs typeface="Poppins"/>
                  <a:sym typeface="Poppins"/>
                </a:rPr>
                <a:t>onthly revenue fluctuated within a fairly narrow range.</a:t>
              </a:r>
            </a:p>
            <a:p>
              <a:pPr algn="l">
                <a:lnSpc>
                  <a:spcPts val="2604"/>
                </a:lnSpc>
              </a:pPr>
              <a:r>
                <a:rPr lang="en-US" sz="1860" spc="-46">
                  <a:solidFill>
                    <a:srgbClr val="3A58E4"/>
                  </a:solidFill>
                  <a:latin typeface="Poppins"/>
                  <a:ea typeface="Poppins"/>
                  <a:cs typeface="Poppins"/>
                  <a:sym typeface="Poppins"/>
                </a:rPr>
                <a:t>October recorded the highest monthly revenue.</a:t>
              </a:r>
            </a:p>
            <a:p>
              <a:pPr algn="l">
                <a:lnSpc>
                  <a:spcPts val="2604"/>
                </a:lnSpc>
              </a:pPr>
              <a:r>
                <a:rPr lang="en-US" sz="1860" spc="-46">
                  <a:solidFill>
                    <a:srgbClr val="3A58E4"/>
                  </a:solidFill>
                  <a:latin typeface="Poppins"/>
                  <a:ea typeface="Poppins"/>
                  <a:cs typeface="Poppins"/>
                  <a:sym typeface="Poppins"/>
                </a:rPr>
                <a:t>July and August experienced the lowest revenue, indicating a possible seasonal slowdown.</a:t>
              </a:r>
            </a:p>
            <a:p>
              <a:pPr algn="l">
                <a:lnSpc>
                  <a:spcPts val="2604"/>
                </a:lnSpc>
              </a:pPr>
            </a:p>
          </p:txBody>
        </p:sp>
        <p:sp>
          <p:nvSpPr>
            <p:cNvPr name="TextBox 25" id="25"/>
            <p:cNvSpPr txBox="true"/>
            <p:nvPr/>
          </p:nvSpPr>
          <p:spPr>
            <a:xfrm rot="0">
              <a:off x="1033544" y="7510019"/>
              <a:ext cx="7126880" cy="470655"/>
            </a:xfrm>
            <a:prstGeom prst="rect">
              <a:avLst/>
            </a:prstGeom>
          </p:spPr>
          <p:txBody>
            <a:bodyPr anchor="t" rtlCol="false" tIns="0" lIns="0" bIns="0" rIns="0">
              <a:spAutoFit/>
            </a:bodyPr>
            <a:lstStyle/>
            <a:p>
              <a:pPr algn="just" marL="0" indent="0" lvl="0">
                <a:lnSpc>
                  <a:spcPts val="2856"/>
                </a:lnSpc>
              </a:pPr>
              <a:r>
                <a:rPr lang="en-US" b="true" sz="2040" spc="-51">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AVERAGE SELLING PRICE</a:t>
              </a:r>
            </a:p>
          </p:txBody>
        </p:sp>
        <p:sp>
          <p:nvSpPr>
            <p:cNvPr name="TextBox 26" id="26"/>
            <p:cNvSpPr txBox="true"/>
            <p:nvPr/>
          </p:nvSpPr>
          <p:spPr>
            <a:xfrm rot="0">
              <a:off x="1033544" y="8167958"/>
              <a:ext cx="8996329" cy="1289550"/>
            </a:xfrm>
            <a:prstGeom prst="rect">
              <a:avLst/>
            </a:prstGeom>
          </p:spPr>
          <p:txBody>
            <a:bodyPr anchor="t" rtlCol="false" tIns="0" lIns="0" bIns="0" rIns="0">
              <a:spAutoFit/>
            </a:bodyPr>
            <a:lstStyle/>
            <a:p>
              <a:pPr algn="just" marL="0" indent="0" lvl="0">
                <a:lnSpc>
                  <a:spcPts val="2604"/>
                </a:lnSpc>
              </a:pPr>
              <a:r>
                <a:rPr lang="en-US" sz="1860" spc="-46">
                  <a:solidFill>
                    <a:srgbClr val="3A58E4"/>
                  </a:solidFill>
                  <a:latin typeface="Poppins"/>
                  <a:ea typeface="Poppins"/>
                  <a:cs typeface="Poppins"/>
                  <a:sym typeface="Poppins"/>
                </a:rPr>
                <a:t>With an av</a:t>
              </a:r>
              <a:r>
                <a:rPr lang="en-US" sz="1860" spc="-46">
                  <a:solidFill>
                    <a:srgbClr val="3A58E4"/>
                  </a:solidFill>
                  <a:latin typeface="Poppins"/>
                  <a:ea typeface="Poppins"/>
                  <a:cs typeface="Poppins"/>
                  <a:sym typeface="Poppins"/>
                </a:rPr>
                <a:t>erage selling price of ₹137.86, the business primarily operates in the mid-range pricing segment, suggesting a focus on affordability while maintaining value.</a:t>
              </a:r>
            </a:p>
          </p:txBody>
        </p:sp>
        <p:sp>
          <p:nvSpPr>
            <p:cNvPr name="TextBox 27" id="27"/>
            <p:cNvSpPr txBox="true"/>
            <p:nvPr/>
          </p:nvSpPr>
          <p:spPr>
            <a:xfrm rot="0">
              <a:off x="0" y="742570"/>
              <a:ext cx="643052" cy="310459"/>
            </a:xfrm>
            <a:prstGeom prst="rect">
              <a:avLst/>
            </a:prstGeom>
          </p:spPr>
          <p:txBody>
            <a:bodyPr anchor="t" rtlCol="false" tIns="0" lIns="0" bIns="0" rIns="0">
              <a:spAutoFit/>
            </a:bodyPr>
            <a:lstStyle/>
            <a:p>
              <a:pPr algn="l" marL="0" indent="0" lvl="0">
                <a:lnSpc>
                  <a:spcPts val="1660"/>
                </a:lnSpc>
              </a:pPr>
              <a:r>
                <a:rPr lang="en-US" sz="1677" spc="-50">
                  <a:solidFill>
                    <a:srgbClr val="3A58E4"/>
                  </a:solidFill>
                  <a:latin typeface="Bricolage Grotesque"/>
                  <a:ea typeface="Bricolage Grotesque"/>
                  <a:cs typeface="Bricolage Grotesque"/>
                  <a:sym typeface="Bricolage Grotesque"/>
                </a:rPr>
                <a:t>01</a:t>
              </a:r>
            </a:p>
          </p:txBody>
        </p:sp>
        <p:sp>
          <p:nvSpPr>
            <p:cNvPr name="TextBox 28" id="28"/>
            <p:cNvSpPr txBox="true"/>
            <p:nvPr/>
          </p:nvSpPr>
          <p:spPr>
            <a:xfrm rot="0">
              <a:off x="0" y="4919919"/>
              <a:ext cx="643052" cy="310459"/>
            </a:xfrm>
            <a:prstGeom prst="rect">
              <a:avLst/>
            </a:prstGeom>
          </p:spPr>
          <p:txBody>
            <a:bodyPr anchor="t" rtlCol="false" tIns="0" lIns="0" bIns="0" rIns="0">
              <a:spAutoFit/>
            </a:bodyPr>
            <a:lstStyle/>
            <a:p>
              <a:pPr algn="l" marL="0" indent="0" lvl="0">
                <a:lnSpc>
                  <a:spcPts val="1660"/>
                </a:lnSpc>
              </a:pPr>
              <a:r>
                <a:rPr lang="en-US" sz="1677" spc="-50">
                  <a:solidFill>
                    <a:srgbClr val="3A58E4"/>
                  </a:solidFill>
                  <a:latin typeface="Bricolage Grotesque"/>
                  <a:ea typeface="Bricolage Grotesque"/>
                  <a:cs typeface="Bricolage Grotesque"/>
                  <a:sym typeface="Bricolage Grotesque"/>
                </a:rPr>
                <a:t>02</a:t>
              </a:r>
            </a:p>
          </p:txBody>
        </p:sp>
        <p:sp>
          <p:nvSpPr>
            <p:cNvPr name="TextBox 29" id="29"/>
            <p:cNvSpPr txBox="true"/>
            <p:nvPr/>
          </p:nvSpPr>
          <p:spPr>
            <a:xfrm rot="0">
              <a:off x="321526" y="8253683"/>
              <a:ext cx="643052" cy="310459"/>
            </a:xfrm>
            <a:prstGeom prst="rect">
              <a:avLst/>
            </a:prstGeom>
          </p:spPr>
          <p:txBody>
            <a:bodyPr anchor="t" rtlCol="false" tIns="0" lIns="0" bIns="0" rIns="0">
              <a:spAutoFit/>
            </a:bodyPr>
            <a:lstStyle/>
            <a:p>
              <a:pPr algn="l" marL="0" indent="0" lvl="0">
                <a:lnSpc>
                  <a:spcPts val="1660"/>
                </a:lnSpc>
              </a:pPr>
              <a:r>
                <a:rPr lang="en-US" sz="1677" spc="-50">
                  <a:solidFill>
                    <a:srgbClr val="3A58E4"/>
                  </a:solidFill>
                  <a:latin typeface="Bricolage Grotesque"/>
                  <a:ea typeface="Bricolage Grotesque"/>
                  <a:cs typeface="Bricolage Grotesque"/>
                  <a:sym typeface="Bricolage Grotesque"/>
                </a:rPr>
                <a:t>06</a:t>
              </a:r>
            </a:p>
          </p:txBody>
        </p:sp>
      </p:grpSp>
      <p:grpSp>
        <p:nvGrpSpPr>
          <p:cNvPr name="Group 30" id="30"/>
          <p:cNvGrpSpPr/>
          <p:nvPr/>
        </p:nvGrpSpPr>
        <p:grpSpPr>
          <a:xfrm rot="0">
            <a:off x="1028700" y="1196251"/>
            <a:ext cx="24226" cy="1038034"/>
            <a:chOff x="0" y="0"/>
            <a:chExt cx="12543" cy="537460"/>
          </a:xfrm>
        </p:grpSpPr>
        <p:sp>
          <p:nvSpPr>
            <p:cNvPr name="Freeform 31" id="31"/>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FFFFFF"/>
            </a:solidFill>
          </p:spPr>
        </p:sp>
        <p:sp>
          <p:nvSpPr>
            <p:cNvPr name="TextBox 32" id="32"/>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3" id="33"/>
          <p:cNvSpPr txBox="true"/>
          <p:nvPr/>
        </p:nvSpPr>
        <p:spPr>
          <a:xfrm rot="0">
            <a:off x="1144711" y="1382275"/>
            <a:ext cx="2753109" cy="1019560"/>
          </a:xfrm>
          <a:prstGeom prst="rect">
            <a:avLst/>
          </a:prstGeom>
        </p:spPr>
        <p:txBody>
          <a:bodyPr anchor="t" rtlCol="false" tIns="0" lIns="0" bIns="0" rIns="0">
            <a:spAutoFit/>
          </a:bodyPr>
          <a:lstStyle/>
          <a:p>
            <a:pPr algn="l" marL="0" indent="0" lvl="0">
              <a:lnSpc>
                <a:spcPts val="3884"/>
              </a:lnSpc>
            </a:pPr>
            <a:r>
              <a:rPr lang="en-US" sz="3963" spc="-253">
                <a:solidFill>
                  <a:srgbClr val="FFFFFF"/>
                </a:solidFill>
                <a:latin typeface="Bricolage Grotesque"/>
                <a:ea typeface="Bricolage Grotesque"/>
                <a:cs typeface="Bricolage Grotesque"/>
                <a:sym typeface="Bricolage Grotesque"/>
              </a:rPr>
              <a:t>Key Business Insights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641386" y="0"/>
            <a:ext cx="4646614" cy="10287000"/>
            <a:chOff x="0" y="0"/>
            <a:chExt cx="1223800" cy="2709333"/>
          </a:xfrm>
        </p:grpSpPr>
        <p:sp>
          <p:nvSpPr>
            <p:cNvPr name="Freeform 3" id="3"/>
            <p:cNvSpPr/>
            <p:nvPr/>
          </p:nvSpPr>
          <p:spPr>
            <a:xfrm flipH="false" flipV="false" rot="0">
              <a:off x="0" y="0"/>
              <a:ext cx="1223800" cy="2709333"/>
            </a:xfrm>
            <a:custGeom>
              <a:avLst/>
              <a:gdLst/>
              <a:ahLst/>
              <a:cxnLst/>
              <a:rect r="r" b="b" t="t" l="l"/>
              <a:pathLst>
                <a:path h="2709333" w="1223800">
                  <a:moveTo>
                    <a:pt x="0" y="0"/>
                  </a:moveTo>
                  <a:lnTo>
                    <a:pt x="1223800" y="0"/>
                  </a:lnTo>
                  <a:lnTo>
                    <a:pt x="1223800"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223800"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5591823" y="1172167"/>
            <a:ext cx="735971" cy="710546"/>
          </a:xfrm>
          <a:custGeom>
            <a:avLst/>
            <a:gdLst/>
            <a:ahLst/>
            <a:cxnLst/>
            <a:rect r="r" b="b" t="t" l="l"/>
            <a:pathLst>
              <a:path h="710546" w="735971">
                <a:moveTo>
                  <a:pt x="0" y="0"/>
                </a:moveTo>
                <a:lnTo>
                  <a:pt x="735971" y="0"/>
                </a:lnTo>
                <a:lnTo>
                  <a:pt x="735971" y="710546"/>
                </a:lnTo>
                <a:lnTo>
                  <a:pt x="0" y="710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5102839" y="2112299"/>
            <a:ext cx="1704171" cy="236127"/>
          </a:xfrm>
          <a:prstGeom prst="rect">
            <a:avLst/>
          </a:prstGeom>
        </p:spPr>
        <p:txBody>
          <a:bodyPr anchor="t" rtlCol="false" tIns="0" lIns="0" bIns="0" rIns="0">
            <a:spAutoFit/>
          </a:bodyPr>
          <a:lstStyle/>
          <a:p>
            <a:pPr algn="ctr" marL="0" indent="0" lvl="0">
              <a:lnSpc>
                <a:spcPts val="1722"/>
              </a:lnSpc>
            </a:pPr>
            <a:r>
              <a:rPr lang="en-US" b="true" sz="1609">
                <a:solidFill>
                  <a:srgbClr val="FFFFFF"/>
                </a:solidFill>
                <a:latin typeface="Poppins Bold"/>
                <a:ea typeface="Poppins Bold"/>
                <a:cs typeface="Poppins Bold"/>
                <a:sym typeface="Poppins Bold"/>
              </a:rPr>
              <a:t>Footwear</a:t>
            </a:r>
          </a:p>
        </p:txBody>
      </p:sp>
      <p:sp>
        <p:nvSpPr>
          <p:cNvPr name="TextBox 7" id="7"/>
          <p:cNvSpPr txBox="true"/>
          <p:nvPr/>
        </p:nvSpPr>
        <p:spPr>
          <a:xfrm rot="0">
            <a:off x="15112607" y="2348426"/>
            <a:ext cx="1704171" cy="236127"/>
          </a:xfrm>
          <a:prstGeom prst="rect">
            <a:avLst/>
          </a:prstGeom>
        </p:spPr>
        <p:txBody>
          <a:bodyPr anchor="t" rtlCol="false" tIns="0" lIns="0" bIns="0" rIns="0">
            <a:spAutoFit/>
          </a:bodyPr>
          <a:lstStyle/>
          <a:p>
            <a:pPr algn="ctr" marL="0" indent="0" lvl="0">
              <a:lnSpc>
                <a:spcPts val="1722"/>
              </a:lnSpc>
            </a:pPr>
            <a:r>
              <a:rPr lang="en-US" sz="1609">
                <a:solidFill>
                  <a:srgbClr val="FFFFFF"/>
                </a:solidFill>
                <a:latin typeface="Poppins"/>
                <a:ea typeface="Poppins"/>
                <a:cs typeface="Poppins"/>
                <a:sym typeface="Poppins"/>
              </a:rPr>
              <a:t>Analytics</a:t>
            </a:r>
          </a:p>
        </p:txBody>
      </p:sp>
      <p:sp>
        <p:nvSpPr>
          <p:cNvPr name="TextBox 8" id="8"/>
          <p:cNvSpPr txBox="true"/>
          <p:nvPr/>
        </p:nvSpPr>
        <p:spPr>
          <a:xfrm rot="0">
            <a:off x="15112607" y="8218453"/>
            <a:ext cx="1704171" cy="236127"/>
          </a:xfrm>
          <a:prstGeom prst="rect">
            <a:avLst/>
          </a:prstGeom>
        </p:spPr>
        <p:txBody>
          <a:bodyPr anchor="t" rtlCol="false" tIns="0" lIns="0" bIns="0" rIns="0">
            <a:spAutoFit/>
          </a:bodyPr>
          <a:lstStyle/>
          <a:p>
            <a:pPr algn="ctr" marL="0" indent="0" lvl="0">
              <a:lnSpc>
                <a:spcPts val="1722"/>
              </a:lnSpc>
            </a:pPr>
            <a:r>
              <a:rPr lang="en-US" b="true" sz="1609">
                <a:solidFill>
                  <a:srgbClr val="FFFFFF"/>
                </a:solidFill>
                <a:latin typeface="Poppins Bold"/>
                <a:ea typeface="Poppins Bold"/>
                <a:cs typeface="Poppins Bold"/>
                <a:sym typeface="Poppins Bold"/>
              </a:rPr>
              <a:t>Page</a:t>
            </a:r>
          </a:p>
        </p:txBody>
      </p:sp>
      <p:sp>
        <p:nvSpPr>
          <p:cNvPr name="TextBox 9" id="9"/>
          <p:cNvSpPr txBox="true"/>
          <p:nvPr/>
        </p:nvSpPr>
        <p:spPr>
          <a:xfrm rot="0">
            <a:off x="15122376" y="8454580"/>
            <a:ext cx="1704171" cy="236127"/>
          </a:xfrm>
          <a:prstGeom prst="rect">
            <a:avLst/>
          </a:prstGeom>
        </p:spPr>
        <p:txBody>
          <a:bodyPr anchor="t" rtlCol="false" tIns="0" lIns="0" bIns="0" rIns="0">
            <a:spAutoFit/>
          </a:bodyPr>
          <a:lstStyle/>
          <a:p>
            <a:pPr algn="ctr" marL="0" indent="0" lvl="0">
              <a:lnSpc>
                <a:spcPts val="1722"/>
              </a:lnSpc>
            </a:pPr>
            <a:r>
              <a:rPr lang="en-US" sz="1609">
                <a:solidFill>
                  <a:srgbClr val="FFFFFF"/>
                </a:solidFill>
                <a:latin typeface="Poppins"/>
                <a:ea typeface="Poppins"/>
                <a:cs typeface="Poppins"/>
                <a:sym typeface="Poppins"/>
              </a:rPr>
              <a:t>7 of 7</a:t>
            </a:r>
          </a:p>
        </p:txBody>
      </p:sp>
      <p:sp>
        <p:nvSpPr>
          <p:cNvPr name="Freeform 10" id="10"/>
          <p:cNvSpPr/>
          <p:nvPr/>
        </p:nvSpPr>
        <p:spPr>
          <a:xfrm flipH="false" flipV="false" rot="0">
            <a:off x="1028700" y="7308293"/>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28700" y="7988737"/>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28700" y="8673002"/>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8986465" y="0"/>
            <a:ext cx="4378150" cy="10287000"/>
            <a:chOff x="0" y="0"/>
            <a:chExt cx="678290" cy="1593725"/>
          </a:xfrm>
        </p:grpSpPr>
        <p:sp>
          <p:nvSpPr>
            <p:cNvPr name="Freeform 14" id="14"/>
            <p:cNvSpPr/>
            <p:nvPr/>
          </p:nvSpPr>
          <p:spPr>
            <a:xfrm flipH="false" flipV="false" rot="0">
              <a:off x="0" y="0"/>
              <a:ext cx="678290" cy="1593725"/>
            </a:xfrm>
            <a:custGeom>
              <a:avLst/>
              <a:gdLst/>
              <a:ahLst/>
              <a:cxnLst/>
              <a:rect r="r" b="b" t="t" l="l"/>
              <a:pathLst>
                <a:path h="1593725" w="678290">
                  <a:moveTo>
                    <a:pt x="0" y="0"/>
                  </a:moveTo>
                  <a:lnTo>
                    <a:pt x="678290" y="0"/>
                  </a:lnTo>
                  <a:lnTo>
                    <a:pt x="678290" y="1593725"/>
                  </a:lnTo>
                  <a:lnTo>
                    <a:pt x="0" y="1593725"/>
                  </a:lnTo>
                  <a:close/>
                </a:path>
              </a:pathLst>
            </a:custGeom>
            <a:blipFill>
              <a:blip r:embed="rId10"/>
              <a:stretch>
                <a:fillRect l="0" t="-70" r="0" b="-70"/>
              </a:stretch>
            </a:blipFill>
          </p:spPr>
        </p:sp>
      </p:grpSp>
      <p:sp>
        <p:nvSpPr>
          <p:cNvPr name="AutoShape 15" id="15"/>
          <p:cNvSpPr/>
          <p:nvPr/>
        </p:nvSpPr>
        <p:spPr>
          <a:xfrm>
            <a:off x="13503000" y="0"/>
            <a:ext cx="0" cy="10287000"/>
          </a:xfrm>
          <a:prstGeom prst="line">
            <a:avLst/>
          </a:prstGeom>
          <a:ln cap="rnd" w="19050">
            <a:solidFill>
              <a:srgbClr val="3A58E4"/>
            </a:solidFill>
            <a:prstDash val="solid"/>
            <a:headEnd type="none" len="sm" w="sm"/>
            <a:tailEnd type="none" len="sm" w="sm"/>
          </a:ln>
        </p:spPr>
      </p:sp>
      <p:sp>
        <p:nvSpPr>
          <p:cNvPr name="TextBox 16" id="16"/>
          <p:cNvSpPr txBox="true"/>
          <p:nvPr/>
        </p:nvSpPr>
        <p:spPr>
          <a:xfrm rot="0">
            <a:off x="14650619" y="4494311"/>
            <a:ext cx="2628148" cy="2465234"/>
          </a:xfrm>
          <a:prstGeom prst="rect">
            <a:avLst/>
          </a:prstGeom>
        </p:spPr>
        <p:txBody>
          <a:bodyPr anchor="t" rtlCol="false" tIns="0" lIns="0" bIns="0" rIns="0">
            <a:spAutoFit/>
          </a:bodyPr>
          <a:lstStyle/>
          <a:p>
            <a:pPr algn="just" marL="0" indent="0" lvl="0">
              <a:lnSpc>
                <a:spcPts val="1796"/>
              </a:lnSpc>
            </a:pPr>
            <a:r>
              <a:rPr lang="en-US" sz="1283" spc="-3">
                <a:solidFill>
                  <a:srgbClr val="FFFFFF"/>
                </a:solidFill>
                <a:latin typeface="Poppins"/>
                <a:ea typeface="Poppins"/>
                <a:cs typeface="Poppins"/>
                <a:sym typeface="Poppins"/>
              </a:rPr>
              <a:t>Skills Demonstrated:</a:t>
            </a:r>
          </a:p>
          <a:p>
            <a:pPr algn="just" marL="0" indent="0" lvl="0">
              <a:lnSpc>
                <a:spcPts val="1796"/>
              </a:lnSpc>
            </a:pPr>
            <a:r>
              <a:rPr lang="en-US" sz="1283" spc="-3">
                <a:solidFill>
                  <a:srgbClr val="FFFFFF"/>
                </a:solidFill>
                <a:latin typeface="Poppins"/>
                <a:ea typeface="Poppins"/>
                <a:cs typeface="Poppins"/>
                <a:sym typeface="Poppins"/>
              </a:rPr>
              <a:t>• Excel: Data cleaning, pivot tables, advanced formulas</a:t>
            </a:r>
          </a:p>
          <a:p>
            <a:pPr algn="just" marL="0" indent="0" lvl="0">
              <a:lnSpc>
                <a:spcPts val="1796"/>
              </a:lnSpc>
            </a:pPr>
            <a:r>
              <a:rPr lang="en-US" sz="1283" spc="-3">
                <a:solidFill>
                  <a:srgbClr val="FFFFFF"/>
                </a:solidFill>
                <a:latin typeface="Poppins"/>
                <a:ea typeface="Poppins"/>
                <a:cs typeface="Poppins"/>
                <a:sym typeface="Poppins"/>
              </a:rPr>
              <a:t>• MySQL: Querying, joins, aggregations</a:t>
            </a:r>
          </a:p>
          <a:p>
            <a:pPr algn="just" marL="0" indent="0" lvl="0">
              <a:lnSpc>
                <a:spcPts val="1796"/>
              </a:lnSpc>
            </a:pPr>
            <a:r>
              <a:rPr lang="en-US" sz="1283" spc="-3">
                <a:solidFill>
                  <a:srgbClr val="FFFFFF"/>
                </a:solidFill>
                <a:latin typeface="Poppins"/>
                <a:ea typeface="Poppins"/>
                <a:cs typeface="Poppins"/>
                <a:sym typeface="Poppins"/>
              </a:rPr>
              <a:t>• Power BI: Dashboard design, DAX, data storytelling</a:t>
            </a:r>
          </a:p>
          <a:p>
            <a:pPr algn="just" marL="0" indent="0" lvl="0">
              <a:lnSpc>
                <a:spcPts val="1796"/>
              </a:lnSpc>
            </a:pPr>
            <a:r>
              <a:rPr lang="en-US" sz="1283" spc="-3">
                <a:solidFill>
                  <a:srgbClr val="FFFFFF"/>
                </a:solidFill>
                <a:latin typeface="Poppins"/>
                <a:ea typeface="Poppins"/>
                <a:cs typeface="Poppins"/>
                <a:sym typeface="Poppins"/>
              </a:rPr>
              <a:t>• Business Intelligence &amp; analytical thinking</a:t>
            </a:r>
          </a:p>
          <a:p>
            <a:pPr algn="just" marL="0" indent="0" lvl="0">
              <a:lnSpc>
                <a:spcPts val="1796"/>
              </a:lnSpc>
            </a:pPr>
            <a:r>
              <a:rPr lang="en-US" sz="1283" spc="-3">
                <a:solidFill>
                  <a:srgbClr val="FFFFFF"/>
                </a:solidFill>
                <a:latin typeface="Poppins"/>
                <a:ea typeface="Poppins"/>
                <a:cs typeface="Poppins"/>
                <a:sym typeface="Poppins"/>
              </a:rPr>
              <a:t>• End-to-end sales analytics pipeline</a:t>
            </a:r>
          </a:p>
        </p:txBody>
      </p:sp>
      <p:sp>
        <p:nvSpPr>
          <p:cNvPr name="TextBox 17" id="17"/>
          <p:cNvSpPr txBox="true"/>
          <p:nvPr/>
        </p:nvSpPr>
        <p:spPr>
          <a:xfrm rot="0">
            <a:off x="1638585" y="7324490"/>
            <a:ext cx="2891575" cy="302837"/>
          </a:xfrm>
          <a:prstGeom prst="rect">
            <a:avLst/>
          </a:prstGeom>
        </p:spPr>
        <p:txBody>
          <a:bodyPr anchor="t" rtlCol="false" tIns="0" lIns="0" bIns="0" rIns="0">
            <a:spAutoFit/>
          </a:bodyPr>
          <a:lstStyle/>
          <a:p>
            <a:pPr algn="l" marL="0" indent="0" lvl="0">
              <a:lnSpc>
                <a:spcPts val="2238"/>
              </a:lnSpc>
            </a:pPr>
            <a:r>
              <a:rPr lang="en-US" sz="1963" spc="-7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Excel  |  MySQL  |  Power BI</a:t>
            </a:r>
          </a:p>
        </p:txBody>
      </p:sp>
      <p:sp>
        <p:nvSpPr>
          <p:cNvPr name="TextBox 18" id="18"/>
          <p:cNvSpPr txBox="true"/>
          <p:nvPr/>
        </p:nvSpPr>
        <p:spPr>
          <a:xfrm rot="0">
            <a:off x="1638585" y="7992073"/>
            <a:ext cx="5248389" cy="302837"/>
          </a:xfrm>
          <a:prstGeom prst="rect">
            <a:avLst/>
          </a:prstGeom>
        </p:spPr>
        <p:txBody>
          <a:bodyPr anchor="t" rtlCol="false" tIns="0" lIns="0" bIns="0" rIns="0">
            <a:spAutoFit/>
          </a:bodyPr>
          <a:lstStyle/>
          <a:p>
            <a:pPr algn="l" marL="0" indent="0" lvl="0">
              <a:lnSpc>
                <a:spcPts val="2238"/>
              </a:lnSpc>
            </a:pPr>
            <a:r>
              <a:rPr lang="en-US" sz="1963" spc="-7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Footwear Sales Analytics Portfolio</a:t>
            </a:r>
          </a:p>
        </p:txBody>
      </p:sp>
      <p:sp>
        <p:nvSpPr>
          <p:cNvPr name="TextBox 19" id="19"/>
          <p:cNvSpPr txBox="true"/>
          <p:nvPr/>
        </p:nvSpPr>
        <p:spPr>
          <a:xfrm rot="0">
            <a:off x="1638585" y="8689199"/>
            <a:ext cx="4805157" cy="302837"/>
          </a:xfrm>
          <a:prstGeom prst="rect">
            <a:avLst/>
          </a:prstGeom>
        </p:spPr>
        <p:txBody>
          <a:bodyPr anchor="t" rtlCol="false" tIns="0" lIns="0" bIns="0" rIns="0">
            <a:spAutoFit/>
          </a:bodyPr>
          <a:lstStyle/>
          <a:p>
            <a:pPr algn="l" marL="0" indent="0" lvl="0">
              <a:lnSpc>
                <a:spcPts val="2238"/>
              </a:lnSpc>
            </a:pPr>
            <a:r>
              <a:rPr lang="en-US" sz="1963" spc="-7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Professional BI Development</a:t>
            </a:r>
          </a:p>
        </p:txBody>
      </p:sp>
      <p:sp>
        <p:nvSpPr>
          <p:cNvPr name="TextBox 20" id="20"/>
          <p:cNvSpPr txBox="true"/>
          <p:nvPr/>
        </p:nvSpPr>
        <p:spPr>
          <a:xfrm rot="0">
            <a:off x="1028700" y="857250"/>
            <a:ext cx="6671890" cy="1460398"/>
          </a:xfrm>
          <a:prstGeom prst="rect">
            <a:avLst/>
          </a:prstGeom>
        </p:spPr>
        <p:txBody>
          <a:bodyPr anchor="t" rtlCol="false" tIns="0" lIns="0" bIns="0" rIns="0">
            <a:spAutoFit/>
          </a:bodyPr>
          <a:lstStyle/>
          <a:p>
            <a:pPr algn="l" marL="0" indent="0" lvl="0">
              <a:lnSpc>
                <a:spcPts val="11905"/>
              </a:lnSpc>
              <a:spcBef>
                <a:spcPct val="0"/>
              </a:spcBef>
            </a:pPr>
            <a:r>
              <a:rPr lang="en-US" b="true" sz="8504" spc="-544">
                <a:gradFill>
                  <a:gsLst>
                    <a:gs pos="0">
                      <a:srgbClr val="293E9C">
                        <a:alpha val="100000"/>
                      </a:srgbClr>
                    </a:gs>
                    <a:gs pos="100000">
                      <a:srgbClr val="3A58E4">
                        <a:alpha val="100000"/>
                      </a:srgbClr>
                    </a:gs>
                  </a:gsLst>
                  <a:path path="circle">
                    <a:fillToRect l="0" r="100000" t="0" b="100000"/>
                  </a:path>
                  <a:tileRect r="0" l="-100000" b="0" t="-100000"/>
                </a:gradFill>
                <a:latin typeface="Canva Sans Bold"/>
                <a:ea typeface="Canva Sans Bold"/>
                <a:cs typeface="Canva Sans Bold"/>
                <a:sym typeface="Canva Sans Bold"/>
              </a:rPr>
              <a:t>Thank You!</a:t>
            </a:r>
          </a:p>
        </p:txBody>
      </p:sp>
      <p:sp>
        <p:nvSpPr>
          <p:cNvPr name="TextBox 21" id="21"/>
          <p:cNvSpPr txBox="true"/>
          <p:nvPr/>
        </p:nvSpPr>
        <p:spPr>
          <a:xfrm rot="0">
            <a:off x="1028700" y="2316167"/>
            <a:ext cx="6671890" cy="3237977"/>
          </a:xfrm>
          <a:prstGeom prst="rect">
            <a:avLst/>
          </a:prstGeom>
        </p:spPr>
        <p:txBody>
          <a:bodyPr anchor="t" rtlCol="false" tIns="0" lIns="0" bIns="0" rIns="0">
            <a:spAutoFit/>
          </a:bodyPr>
          <a:lstStyle/>
          <a:p>
            <a:pPr algn="just" marL="0" indent="0" lvl="0">
              <a:lnSpc>
                <a:spcPts val="8333"/>
              </a:lnSpc>
            </a:pPr>
            <a:r>
              <a:rPr lang="en-US" sz="8504"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Skills &amp;</a:t>
            </a:r>
          </a:p>
          <a:p>
            <a:pPr algn="just" marL="0" indent="0" lvl="0">
              <a:lnSpc>
                <a:spcPts val="8333"/>
              </a:lnSpc>
            </a:pPr>
            <a:r>
              <a:rPr lang="en-US" sz="8504"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Conclusion</a:t>
            </a:r>
          </a:p>
          <a:p>
            <a:pPr algn="just" marL="0" indent="0" lvl="0">
              <a:lnSpc>
                <a:spcPts val="8333"/>
              </a:lnSpc>
            </a:pPr>
            <a:r>
              <a:rPr lang="en-US" sz="8504"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Summary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DAHOsBUnMEg</dc:identifier>
  <dcterms:modified xsi:type="dcterms:W3CDTF">2011-08-01T06:04:30Z</dcterms:modified>
  <cp:revision>1</cp:revision>
  <dc:title>Sales_footwear_ppt</dc:title>
</cp:coreProperties>
</file>